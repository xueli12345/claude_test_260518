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80" d="100"/>
          <a:sy n="80" d="100"/>
        </p:scale>
        <p:origin x="652" y="3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409141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D06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442EE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42EE0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11480"/>
            <a:ext cx="228600" cy="228600"/>
          </a:xfrm>
          <a:prstGeom prst="ellipse">
            <a:avLst/>
          </a:prstGeom>
          <a:solidFill>
            <a:srgbClr val="1EEF97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38404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CD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A R I A 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26774" y="800696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6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AEB</a:t>
            </a:r>
            <a:endParaRPr lang="en-US" sz="6000" dirty="0"/>
          </a:p>
        </p:txBody>
      </p:sp>
      <p:sp>
        <p:nvSpPr>
          <p:cNvPr id="7" name="Shape 5"/>
          <p:cNvSpPr/>
          <p:nvPr/>
        </p:nvSpPr>
        <p:spPr>
          <a:xfrm>
            <a:off x="526774" y="1532216"/>
            <a:ext cx="1828800" cy="45720"/>
          </a:xfrm>
          <a:prstGeom prst="rect">
            <a:avLst/>
          </a:prstGeom>
          <a:solidFill>
            <a:srgbClr val="1EEF97"/>
          </a:solidFill>
          <a:ln/>
        </p:spPr>
      </p:sp>
      <p:sp>
        <p:nvSpPr>
          <p:cNvPr id="8" name="Text 6"/>
          <p:cNvSpPr/>
          <p:nvPr/>
        </p:nvSpPr>
        <p:spPr>
          <a:xfrm>
            <a:off x="526774" y="1760816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rgbClr val="CD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Emergency Braking  |  自动紧急制动系统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26774" y="2446616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EF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AEB?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26774" y="2766656"/>
            <a:ext cx="50292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AEB (Autonomous Emergency Braking) is an advanced driver assistance system that automatically applies the brakes when a collision is imminent and the driver fails to respond in time.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26774" y="3726776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EF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26774" y="4046816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442E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 SENSE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26774" y="428456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CD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Radar, camera &amp; LiDAR sensors continuously monitor the road ahead for vehicles, pedestrians &amp; obstacles.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26774" y="4613744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442E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 DECIDE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26774" y="4851488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CD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ECU evaluates collision risk based on relative speed, distance &amp; trajectory — triggering alerts then braking.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26774" y="5180672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442E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 ACT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26774" y="5418416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CD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the driver does not react, the system autonomously applies full braking force to avoid or mitigate collision.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131451" y="2700501"/>
            <a:ext cx="45719" cy="2908985"/>
          </a:xfrm>
          <a:prstGeom prst="rect">
            <a:avLst/>
          </a:prstGeom>
          <a:solidFill>
            <a:srgbClr val="442EE0"/>
          </a:solidFill>
          <a:ln/>
        </p:spPr>
      </p:sp>
      <p:sp>
        <p:nvSpPr>
          <p:cNvPr id="19" name="Text 17"/>
          <p:cNvSpPr/>
          <p:nvPr/>
        </p:nvSpPr>
        <p:spPr>
          <a:xfrm>
            <a:off x="6636028" y="1790077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EF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AEB IN ACTION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636028" y="2567317"/>
            <a:ext cx="5303520" cy="1600200"/>
          </a:xfrm>
          <a:prstGeom prst="rect">
            <a:avLst/>
          </a:prstGeom>
          <a:solidFill>
            <a:srgbClr val="1A0A30"/>
          </a:solidFill>
          <a:ln/>
        </p:spPr>
      </p:sp>
      <p:sp>
        <p:nvSpPr>
          <p:cNvPr id="21" name="Shape 19"/>
          <p:cNvSpPr/>
          <p:nvPr/>
        </p:nvSpPr>
        <p:spPr>
          <a:xfrm>
            <a:off x="6727468" y="3298837"/>
            <a:ext cx="164592" cy="27432"/>
          </a:xfrm>
          <a:prstGeom prst="rect">
            <a:avLst/>
          </a:prstGeom>
          <a:solidFill>
            <a:srgbClr val="373741"/>
          </a:solidFill>
          <a:ln/>
        </p:spPr>
      </p:sp>
      <p:sp>
        <p:nvSpPr>
          <p:cNvPr id="22" name="Shape 20"/>
          <p:cNvSpPr/>
          <p:nvPr/>
        </p:nvSpPr>
        <p:spPr>
          <a:xfrm>
            <a:off x="7047508" y="3298837"/>
            <a:ext cx="164592" cy="27432"/>
          </a:xfrm>
          <a:prstGeom prst="rect">
            <a:avLst/>
          </a:prstGeom>
          <a:solidFill>
            <a:srgbClr val="373741"/>
          </a:solidFill>
          <a:ln/>
        </p:spPr>
      </p:sp>
      <p:sp>
        <p:nvSpPr>
          <p:cNvPr id="23" name="Shape 21"/>
          <p:cNvSpPr/>
          <p:nvPr/>
        </p:nvSpPr>
        <p:spPr>
          <a:xfrm>
            <a:off x="7367548" y="3298837"/>
            <a:ext cx="164592" cy="27432"/>
          </a:xfrm>
          <a:prstGeom prst="rect">
            <a:avLst/>
          </a:prstGeom>
          <a:solidFill>
            <a:srgbClr val="373741"/>
          </a:solidFill>
          <a:ln/>
        </p:spPr>
      </p:sp>
      <p:sp>
        <p:nvSpPr>
          <p:cNvPr id="24" name="Shape 22"/>
          <p:cNvSpPr/>
          <p:nvPr/>
        </p:nvSpPr>
        <p:spPr>
          <a:xfrm>
            <a:off x="7687588" y="3298837"/>
            <a:ext cx="164592" cy="27432"/>
          </a:xfrm>
          <a:prstGeom prst="rect">
            <a:avLst/>
          </a:prstGeom>
          <a:solidFill>
            <a:srgbClr val="373741"/>
          </a:solidFill>
          <a:ln/>
        </p:spPr>
      </p:sp>
      <p:sp>
        <p:nvSpPr>
          <p:cNvPr id="25" name="Shape 23"/>
          <p:cNvSpPr/>
          <p:nvPr/>
        </p:nvSpPr>
        <p:spPr>
          <a:xfrm>
            <a:off x="8007628" y="3298837"/>
            <a:ext cx="164592" cy="27432"/>
          </a:xfrm>
          <a:prstGeom prst="rect">
            <a:avLst/>
          </a:prstGeom>
          <a:solidFill>
            <a:srgbClr val="373741"/>
          </a:solidFill>
          <a:ln/>
        </p:spPr>
      </p:sp>
      <p:sp>
        <p:nvSpPr>
          <p:cNvPr id="26" name="Shape 24"/>
          <p:cNvSpPr/>
          <p:nvPr/>
        </p:nvSpPr>
        <p:spPr>
          <a:xfrm>
            <a:off x="8327668" y="3298837"/>
            <a:ext cx="164592" cy="27432"/>
          </a:xfrm>
          <a:prstGeom prst="rect">
            <a:avLst/>
          </a:prstGeom>
          <a:solidFill>
            <a:srgbClr val="373741"/>
          </a:solidFill>
          <a:ln/>
        </p:spPr>
      </p:sp>
      <p:sp>
        <p:nvSpPr>
          <p:cNvPr id="27" name="Shape 25"/>
          <p:cNvSpPr/>
          <p:nvPr/>
        </p:nvSpPr>
        <p:spPr>
          <a:xfrm>
            <a:off x="8647708" y="3298837"/>
            <a:ext cx="164592" cy="27432"/>
          </a:xfrm>
          <a:prstGeom prst="rect">
            <a:avLst/>
          </a:prstGeom>
          <a:solidFill>
            <a:srgbClr val="373741"/>
          </a:solidFill>
          <a:ln/>
        </p:spPr>
      </p:sp>
      <p:sp>
        <p:nvSpPr>
          <p:cNvPr id="28" name="Shape 26"/>
          <p:cNvSpPr/>
          <p:nvPr/>
        </p:nvSpPr>
        <p:spPr>
          <a:xfrm>
            <a:off x="8967748" y="3298837"/>
            <a:ext cx="164592" cy="27432"/>
          </a:xfrm>
          <a:prstGeom prst="rect">
            <a:avLst/>
          </a:prstGeom>
          <a:solidFill>
            <a:srgbClr val="373741"/>
          </a:solidFill>
          <a:ln/>
        </p:spPr>
      </p:sp>
      <p:sp>
        <p:nvSpPr>
          <p:cNvPr id="29" name="Shape 27"/>
          <p:cNvSpPr/>
          <p:nvPr/>
        </p:nvSpPr>
        <p:spPr>
          <a:xfrm>
            <a:off x="9287788" y="3298837"/>
            <a:ext cx="164592" cy="27432"/>
          </a:xfrm>
          <a:prstGeom prst="rect">
            <a:avLst/>
          </a:prstGeom>
          <a:solidFill>
            <a:srgbClr val="373741"/>
          </a:solidFill>
          <a:ln/>
        </p:spPr>
      </p:sp>
      <p:sp>
        <p:nvSpPr>
          <p:cNvPr id="30" name="Shape 28"/>
          <p:cNvSpPr/>
          <p:nvPr/>
        </p:nvSpPr>
        <p:spPr>
          <a:xfrm>
            <a:off x="9607828" y="3298837"/>
            <a:ext cx="164592" cy="27432"/>
          </a:xfrm>
          <a:prstGeom prst="rect">
            <a:avLst/>
          </a:prstGeom>
          <a:solidFill>
            <a:srgbClr val="373741"/>
          </a:solidFill>
          <a:ln/>
        </p:spPr>
      </p:sp>
      <p:sp>
        <p:nvSpPr>
          <p:cNvPr id="31" name="Shape 29"/>
          <p:cNvSpPr/>
          <p:nvPr/>
        </p:nvSpPr>
        <p:spPr>
          <a:xfrm>
            <a:off x="9927868" y="3298837"/>
            <a:ext cx="164592" cy="27432"/>
          </a:xfrm>
          <a:prstGeom prst="rect">
            <a:avLst/>
          </a:prstGeom>
          <a:solidFill>
            <a:srgbClr val="373741"/>
          </a:solidFill>
          <a:ln/>
        </p:spPr>
      </p:sp>
      <p:sp>
        <p:nvSpPr>
          <p:cNvPr id="32" name="Shape 30"/>
          <p:cNvSpPr/>
          <p:nvPr/>
        </p:nvSpPr>
        <p:spPr>
          <a:xfrm>
            <a:off x="10247908" y="3298837"/>
            <a:ext cx="164592" cy="27432"/>
          </a:xfrm>
          <a:prstGeom prst="rect">
            <a:avLst/>
          </a:prstGeom>
          <a:solidFill>
            <a:srgbClr val="373741"/>
          </a:solidFill>
          <a:ln/>
        </p:spPr>
      </p:sp>
      <p:sp>
        <p:nvSpPr>
          <p:cNvPr id="33" name="Shape 31"/>
          <p:cNvSpPr/>
          <p:nvPr/>
        </p:nvSpPr>
        <p:spPr>
          <a:xfrm>
            <a:off x="10567948" y="3298837"/>
            <a:ext cx="164592" cy="27432"/>
          </a:xfrm>
          <a:prstGeom prst="rect">
            <a:avLst/>
          </a:prstGeom>
          <a:solidFill>
            <a:srgbClr val="373741"/>
          </a:solidFill>
          <a:ln/>
        </p:spPr>
      </p:sp>
      <p:sp>
        <p:nvSpPr>
          <p:cNvPr id="34" name="Shape 32"/>
          <p:cNvSpPr/>
          <p:nvPr/>
        </p:nvSpPr>
        <p:spPr>
          <a:xfrm>
            <a:off x="10887988" y="3298837"/>
            <a:ext cx="164592" cy="27432"/>
          </a:xfrm>
          <a:prstGeom prst="rect">
            <a:avLst/>
          </a:prstGeom>
          <a:solidFill>
            <a:srgbClr val="373741"/>
          </a:solidFill>
          <a:ln/>
        </p:spPr>
      </p:sp>
      <p:sp>
        <p:nvSpPr>
          <p:cNvPr id="35" name="Shape 33"/>
          <p:cNvSpPr/>
          <p:nvPr/>
        </p:nvSpPr>
        <p:spPr>
          <a:xfrm>
            <a:off x="11208028" y="3298837"/>
            <a:ext cx="164592" cy="27432"/>
          </a:xfrm>
          <a:prstGeom prst="rect">
            <a:avLst/>
          </a:prstGeom>
          <a:solidFill>
            <a:srgbClr val="373741"/>
          </a:solidFill>
          <a:ln/>
        </p:spPr>
      </p:sp>
      <p:sp>
        <p:nvSpPr>
          <p:cNvPr id="36" name="Shape 34"/>
          <p:cNvSpPr/>
          <p:nvPr/>
        </p:nvSpPr>
        <p:spPr>
          <a:xfrm>
            <a:off x="11528068" y="3298837"/>
            <a:ext cx="164592" cy="27432"/>
          </a:xfrm>
          <a:prstGeom prst="rect">
            <a:avLst/>
          </a:prstGeom>
          <a:solidFill>
            <a:srgbClr val="373741"/>
          </a:solidFill>
          <a:ln/>
        </p:spPr>
      </p:sp>
      <p:sp>
        <p:nvSpPr>
          <p:cNvPr id="37" name="Shape 35"/>
          <p:cNvSpPr/>
          <p:nvPr/>
        </p:nvSpPr>
        <p:spPr>
          <a:xfrm>
            <a:off x="6727468" y="3463429"/>
            <a:ext cx="164592" cy="27432"/>
          </a:xfrm>
          <a:prstGeom prst="rect">
            <a:avLst/>
          </a:prstGeom>
          <a:solidFill>
            <a:srgbClr val="373741"/>
          </a:solidFill>
          <a:ln/>
        </p:spPr>
      </p:sp>
      <p:sp>
        <p:nvSpPr>
          <p:cNvPr id="38" name="Shape 36"/>
          <p:cNvSpPr/>
          <p:nvPr/>
        </p:nvSpPr>
        <p:spPr>
          <a:xfrm>
            <a:off x="7047508" y="3463429"/>
            <a:ext cx="164592" cy="27432"/>
          </a:xfrm>
          <a:prstGeom prst="rect">
            <a:avLst/>
          </a:prstGeom>
          <a:solidFill>
            <a:srgbClr val="373741"/>
          </a:solidFill>
          <a:ln/>
        </p:spPr>
      </p:sp>
      <p:sp>
        <p:nvSpPr>
          <p:cNvPr id="39" name="Shape 37"/>
          <p:cNvSpPr/>
          <p:nvPr/>
        </p:nvSpPr>
        <p:spPr>
          <a:xfrm>
            <a:off x="7367548" y="3463429"/>
            <a:ext cx="164592" cy="27432"/>
          </a:xfrm>
          <a:prstGeom prst="rect">
            <a:avLst/>
          </a:prstGeom>
          <a:solidFill>
            <a:srgbClr val="373741"/>
          </a:solidFill>
          <a:ln/>
        </p:spPr>
      </p:sp>
      <p:sp>
        <p:nvSpPr>
          <p:cNvPr id="40" name="Shape 38"/>
          <p:cNvSpPr/>
          <p:nvPr/>
        </p:nvSpPr>
        <p:spPr>
          <a:xfrm>
            <a:off x="7687588" y="3463429"/>
            <a:ext cx="164592" cy="27432"/>
          </a:xfrm>
          <a:prstGeom prst="rect">
            <a:avLst/>
          </a:prstGeom>
          <a:solidFill>
            <a:srgbClr val="373741"/>
          </a:solidFill>
          <a:ln/>
        </p:spPr>
      </p:sp>
      <p:sp>
        <p:nvSpPr>
          <p:cNvPr id="41" name="Shape 39"/>
          <p:cNvSpPr/>
          <p:nvPr/>
        </p:nvSpPr>
        <p:spPr>
          <a:xfrm>
            <a:off x="8007628" y="3463429"/>
            <a:ext cx="164592" cy="27432"/>
          </a:xfrm>
          <a:prstGeom prst="rect">
            <a:avLst/>
          </a:prstGeom>
          <a:solidFill>
            <a:srgbClr val="373741"/>
          </a:solidFill>
          <a:ln/>
        </p:spPr>
      </p:sp>
      <p:sp>
        <p:nvSpPr>
          <p:cNvPr id="42" name="Shape 40"/>
          <p:cNvSpPr/>
          <p:nvPr/>
        </p:nvSpPr>
        <p:spPr>
          <a:xfrm>
            <a:off x="8327668" y="3463429"/>
            <a:ext cx="164592" cy="27432"/>
          </a:xfrm>
          <a:prstGeom prst="rect">
            <a:avLst/>
          </a:prstGeom>
          <a:solidFill>
            <a:srgbClr val="373741"/>
          </a:solidFill>
          <a:ln/>
        </p:spPr>
      </p:sp>
      <p:sp>
        <p:nvSpPr>
          <p:cNvPr id="43" name="Shape 41"/>
          <p:cNvSpPr/>
          <p:nvPr/>
        </p:nvSpPr>
        <p:spPr>
          <a:xfrm>
            <a:off x="8647708" y="3463429"/>
            <a:ext cx="164592" cy="27432"/>
          </a:xfrm>
          <a:prstGeom prst="rect">
            <a:avLst/>
          </a:prstGeom>
          <a:solidFill>
            <a:srgbClr val="373741"/>
          </a:solidFill>
          <a:ln/>
        </p:spPr>
      </p:sp>
      <p:sp>
        <p:nvSpPr>
          <p:cNvPr id="44" name="Shape 42"/>
          <p:cNvSpPr/>
          <p:nvPr/>
        </p:nvSpPr>
        <p:spPr>
          <a:xfrm>
            <a:off x="8967748" y="3463429"/>
            <a:ext cx="164592" cy="27432"/>
          </a:xfrm>
          <a:prstGeom prst="rect">
            <a:avLst/>
          </a:prstGeom>
          <a:solidFill>
            <a:srgbClr val="373741"/>
          </a:solidFill>
          <a:ln/>
        </p:spPr>
      </p:sp>
      <p:sp>
        <p:nvSpPr>
          <p:cNvPr id="45" name="Shape 43"/>
          <p:cNvSpPr/>
          <p:nvPr/>
        </p:nvSpPr>
        <p:spPr>
          <a:xfrm>
            <a:off x="9287788" y="3463429"/>
            <a:ext cx="164592" cy="27432"/>
          </a:xfrm>
          <a:prstGeom prst="rect">
            <a:avLst/>
          </a:prstGeom>
          <a:solidFill>
            <a:srgbClr val="373741"/>
          </a:solidFill>
          <a:ln/>
        </p:spPr>
      </p:sp>
      <p:sp>
        <p:nvSpPr>
          <p:cNvPr id="46" name="Shape 44"/>
          <p:cNvSpPr/>
          <p:nvPr/>
        </p:nvSpPr>
        <p:spPr>
          <a:xfrm>
            <a:off x="9607828" y="3463429"/>
            <a:ext cx="164592" cy="27432"/>
          </a:xfrm>
          <a:prstGeom prst="rect">
            <a:avLst/>
          </a:prstGeom>
          <a:solidFill>
            <a:srgbClr val="373741"/>
          </a:solidFill>
          <a:ln/>
        </p:spPr>
      </p:sp>
      <p:sp>
        <p:nvSpPr>
          <p:cNvPr id="47" name="Shape 45"/>
          <p:cNvSpPr/>
          <p:nvPr/>
        </p:nvSpPr>
        <p:spPr>
          <a:xfrm>
            <a:off x="9927868" y="3463429"/>
            <a:ext cx="164592" cy="27432"/>
          </a:xfrm>
          <a:prstGeom prst="rect">
            <a:avLst/>
          </a:prstGeom>
          <a:solidFill>
            <a:srgbClr val="373741"/>
          </a:solidFill>
          <a:ln/>
        </p:spPr>
      </p:sp>
      <p:sp>
        <p:nvSpPr>
          <p:cNvPr id="48" name="Shape 46"/>
          <p:cNvSpPr/>
          <p:nvPr/>
        </p:nvSpPr>
        <p:spPr>
          <a:xfrm>
            <a:off x="10247908" y="3463429"/>
            <a:ext cx="164592" cy="27432"/>
          </a:xfrm>
          <a:prstGeom prst="rect">
            <a:avLst/>
          </a:prstGeom>
          <a:solidFill>
            <a:srgbClr val="373741"/>
          </a:solidFill>
          <a:ln/>
        </p:spPr>
      </p:sp>
      <p:sp>
        <p:nvSpPr>
          <p:cNvPr id="49" name="Shape 47"/>
          <p:cNvSpPr/>
          <p:nvPr/>
        </p:nvSpPr>
        <p:spPr>
          <a:xfrm>
            <a:off x="10567948" y="3463429"/>
            <a:ext cx="164592" cy="27432"/>
          </a:xfrm>
          <a:prstGeom prst="rect">
            <a:avLst/>
          </a:prstGeom>
          <a:solidFill>
            <a:srgbClr val="373741"/>
          </a:solidFill>
          <a:ln/>
        </p:spPr>
      </p:sp>
      <p:sp>
        <p:nvSpPr>
          <p:cNvPr id="50" name="Shape 48"/>
          <p:cNvSpPr/>
          <p:nvPr/>
        </p:nvSpPr>
        <p:spPr>
          <a:xfrm>
            <a:off x="10887988" y="3463429"/>
            <a:ext cx="164592" cy="27432"/>
          </a:xfrm>
          <a:prstGeom prst="rect">
            <a:avLst/>
          </a:prstGeom>
          <a:solidFill>
            <a:srgbClr val="373741"/>
          </a:solidFill>
          <a:ln/>
        </p:spPr>
      </p:sp>
      <p:sp>
        <p:nvSpPr>
          <p:cNvPr id="51" name="Shape 49"/>
          <p:cNvSpPr/>
          <p:nvPr/>
        </p:nvSpPr>
        <p:spPr>
          <a:xfrm>
            <a:off x="11208028" y="3463429"/>
            <a:ext cx="164592" cy="27432"/>
          </a:xfrm>
          <a:prstGeom prst="rect">
            <a:avLst/>
          </a:prstGeom>
          <a:solidFill>
            <a:srgbClr val="373741"/>
          </a:solidFill>
          <a:ln/>
        </p:spPr>
      </p:sp>
      <p:sp>
        <p:nvSpPr>
          <p:cNvPr id="52" name="Shape 50"/>
          <p:cNvSpPr/>
          <p:nvPr/>
        </p:nvSpPr>
        <p:spPr>
          <a:xfrm>
            <a:off x="11528068" y="3463429"/>
            <a:ext cx="164592" cy="27432"/>
          </a:xfrm>
          <a:prstGeom prst="rect">
            <a:avLst/>
          </a:prstGeom>
          <a:solidFill>
            <a:srgbClr val="373741"/>
          </a:solidFill>
          <a:ln/>
        </p:spPr>
      </p:sp>
      <p:sp>
        <p:nvSpPr>
          <p:cNvPr id="53" name="Shape 51"/>
          <p:cNvSpPr/>
          <p:nvPr/>
        </p:nvSpPr>
        <p:spPr>
          <a:xfrm>
            <a:off x="6864628" y="3271405"/>
            <a:ext cx="960120" cy="411480"/>
          </a:xfrm>
          <a:prstGeom prst="rect">
            <a:avLst/>
          </a:prstGeom>
          <a:solidFill>
            <a:srgbClr val="442EE0"/>
          </a:solidFill>
          <a:ln/>
        </p:spPr>
      </p:sp>
      <p:sp>
        <p:nvSpPr>
          <p:cNvPr id="54" name="Shape 52"/>
          <p:cNvSpPr/>
          <p:nvPr/>
        </p:nvSpPr>
        <p:spPr>
          <a:xfrm>
            <a:off x="6956068" y="3307981"/>
            <a:ext cx="502920" cy="256032"/>
          </a:xfrm>
          <a:prstGeom prst="rect">
            <a:avLst/>
          </a:prstGeom>
          <a:solidFill>
            <a:srgbClr val="5A4AF0"/>
          </a:solidFill>
          <a:ln/>
        </p:spPr>
      </p:sp>
      <p:sp>
        <p:nvSpPr>
          <p:cNvPr id="55" name="Shape 53"/>
          <p:cNvSpPr/>
          <p:nvPr/>
        </p:nvSpPr>
        <p:spPr>
          <a:xfrm>
            <a:off x="6910348" y="3234829"/>
            <a:ext cx="182880" cy="73152"/>
          </a:xfrm>
          <a:prstGeom prst="rect">
            <a:avLst/>
          </a:prstGeom>
          <a:solidFill>
            <a:srgbClr val="CDCDD2"/>
          </a:solidFill>
          <a:ln/>
        </p:spPr>
      </p:sp>
      <p:sp>
        <p:nvSpPr>
          <p:cNvPr id="56" name="Shape 54"/>
          <p:cNvSpPr/>
          <p:nvPr/>
        </p:nvSpPr>
        <p:spPr>
          <a:xfrm>
            <a:off x="7596148" y="3234829"/>
            <a:ext cx="182880" cy="73152"/>
          </a:xfrm>
          <a:prstGeom prst="rect">
            <a:avLst/>
          </a:prstGeom>
          <a:solidFill>
            <a:srgbClr val="CDCDD2"/>
          </a:solidFill>
          <a:ln/>
        </p:spPr>
      </p:sp>
      <p:sp>
        <p:nvSpPr>
          <p:cNvPr id="57" name="Shape 55"/>
          <p:cNvSpPr/>
          <p:nvPr/>
        </p:nvSpPr>
        <p:spPr>
          <a:xfrm>
            <a:off x="6910348" y="3628021"/>
            <a:ext cx="182880" cy="73152"/>
          </a:xfrm>
          <a:prstGeom prst="rect">
            <a:avLst/>
          </a:prstGeom>
          <a:solidFill>
            <a:srgbClr val="CDCDD2"/>
          </a:solidFill>
          <a:ln/>
        </p:spPr>
      </p:sp>
      <p:sp>
        <p:nvSpPr>
          <p:cNvPr id="58" name="Shape 56"/>
          <p:cNvSpPr/>
          <p:nvPr/>
        </p:nvSpPr>
        <p:spPr>
          <a:xfrm>
            <a:off x="7596148" y="3628021"/>
            <a:ext cx="182880" cy="73152"/>
          </a:xfrm>
          <a:prstGeom prst="rect">
            <a:avLst/>
          </a:prstGeom>
          <a:solidFill>
            <a:srgbClr val="CDCDD2"/>
          </a:solidFill>
          <a:ln/>
        </p:spPr>
      </p:sp>
      <p:sp>
        <p:nvSpPr>
          <p:cNvPr id="59" name="Text 57"/>
          <p:cNvSpPr/>
          <p:nvPr/>
        </p:nvSpPr>
        <p:spPr>
          <a:xfrm>
            <a:off x="6910348" y="3088525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442E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EGO</a:t>
            </a:r>
            <a:endParaRPr lang="en-US" sz="700" dirty="0"/>
          </a:p>
        </p:txBody>
      </p:sp>
      <p:sp>
        <p:nvSpPr>
          <p:cNvPr id="60" name="Shape 58"/>
          <p:cNvSpPr/>
          <p:nvPr/>
        </p:nvSpPr>
        <p:spPr>
          <a:xfrm>
            <a:off x="6864628" y="2887357"/>
            <a:ext cx="1371600" cy="438912"/>
          </a:xfrm>
          <a:prstGeom prst="triangle">
            <a:avLst/>
          </a:prstGeom>
          <a:solidFill>
            <a:srgbClr val="1EEF97">
              <a:alpha val="15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6956068" y="2750197"/>
            <a:ext cx="1005840" cy="576072"/>
          </a:xfrm>
          <a:prstGeom prst="triangle">
            <a:avLst/>
          </a:prstGeom>
          <a:solidFill>
            <a:srgbClr val="1EEF97">
              <a:alpha val="25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7065796" y="2567317"/>
            <a:ext cx="640080" cy="758952"/>
          </a:xfrm>
          <a:prstGeom prst="triangle">
            <a:avLst/>
          </a:prstGeom>
          <a:solidFill>
            <a:srgbClr val="1EEF97">
              <a:alpha val="40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8967748" y="3271405"/>
            <a:ext cx="594360" cy="347472"/>
          </a:xfrm>
          <a:prstGeom prst="rect">
            <a:avLst/>
          </a:prstGeom>
          <a:solidFill>
            <a:srgbClr val="EE4C40"/>
          </a:solidFill>
          <a:ln/>
        </p:spPr>
      </p:sp>
      <p:sp>
        <p:nvSpPr>
          <p:cNvPr id="64" name="Shape 62"/>
          <p:cNvSpPr/>
          <p:nvPr/>
        </p:nvSpPr>
        <p:spPr>
          <a:xfrm>
            <a:off x="9013468" y="3298837"/>
            <a:ext cx="320040" cy="201168"/>
          </a:xfrm>
          <a:prstGeom prst="rect">
            <a:avLst/>
          </a:prstGeom>
          <a:solidFill>
            <a:srgbClr val="EE7066"/>
          </a:solidFill>
          <a:ln/>
        </p:spPr>
      </p:sp>
      <p:sp>
        <p:nvSpPr>
          <p:cNvPr id="65" name="Shape 63"/>
          <p:cNvSpPr/>
          <p:nvPr/>
        </p:nvSpPr>
        <p:spPr>
          <a:xfrm>
            <a:off x="8995180" y="3234829"/>
            <a:ext cx="118872" cy="54864"/>
          </a:xfrm>
          <a:prstGeom prst="rect">
            <a:avLst/>
          </a:prstGeom>
          <a:solidFill>
            <a:srgbClr val="CDCDD2"/>
          </a:solidFill>
          <a:ln/>
        </p:spPr>
      </p:sp>
      <p:sp>
        <p:nvSpPr>
          <p:cNvPr id="66" name="Shape 64"/>
          <p:cNvSpPr/>
          <p:nvPr/>
        </p:nvSpPr>
        <p:spPr>
          <a:xfrm>
            <a:off x="9424948" y="3234829"/>
            <a:ext cx="118872" cy="54864"/>
          </a:xfrm>
          <a:prstGeom prst="rect">
            <a:avLst/>
          </a:prstGeom>
          <a:solidFill>
            <a:srgbClr val="CDCDD2"/>
          </a:solidFill>
          <a:ln/>
        </p:spPr>
      </p:sp>
      <p:sp>
        <p:nvSpPr>
          <p:cNvPr id="67" name="Shape 65"/>
          <p:cNvSpPr/>
          <p:nvPr/>
        </p:nvSpPr>
        <p:spPr>
          <a:xfrm>
            <a:off x="8995180" y="3564013"/>
            <a:ext cx="118872" cy="54864"/>
          </a:xfrm>
          <a:prstGeom prst="rect">
            <a:avLst/>
          </a:prstGeom>
          <a:solidFill>
            <a:srgbClr val="CDCDD2"/>
          </a:solidFill>
          <a:ln/>
        </p:spPr>
      </p:sp>
      <p:sp>
        <p:nvSpPr>
          <p:cNvPr id="68" name="Shape 66"/>
          <p:cNvSpPr/>
          <p:nvPr/>
        </p:nvSpPr>
        <p:spPr>
          <a:xfrm>
            <a:off x="9424948" y="3564013"/>
            <a:ext cx="118872" cy="54864"/>
          </a:xfrm>
          <a:prstGeom prst="rect">
            <a:avLst/>
          </a:prstGeom>
          <a:solidFill>
            <a:srgbClr val="CDCDD2"/>
          </a:solidFill>
          <a:ln/>
        </p:spPr>
      </p:sp>
      <p:sp>
        <p:nvSpPr>
          <p:cNvPr id="69" name="Text 67"/>
          <p:cNvSpPr/>
          <p:nvPr/>
        </p:nvSpPr>
        <p:spPr>
          <a:xfrm>
            <a:off x="8830588" y="3070237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E4C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</a:t>
            </a:r>
            <a:endParaRPr lang="en-US" sz="700" dirty="0"/>
          </a:p>
        </p:txBody>
      </p:sp>
      <p:sp>
        <p:nvSpPr>
          <p:cNvPr id="70" name="Shape 68"/>
          <p:cNvSpPr/>
          <p:nvPr/>
        </p:nvSpPr>
        <p:spPr>
          <a:xfrm>
            <a:off x="7843036" y="3472573"/>
            <a:ext cx="1097280" cy="0"/>
          </a:xfrm>
          <a:prstGeom prst="line">
            <a:avLst/>
          </a:prstGeom>
          <a:noFill/>
          <a:ln w="19050">
            <a:solidFill>
              <a:srgbClr val="FEF04A"/>
            </a:solidFill>
            <a:prstDash val="dash"/>
          </a:ln>
        </p:spPr>
      </p:sp>
      <p:sp>
        <p:nvSpPr>
          <p:cNvPr id="71" name="Shape 69"/>
          <p:cNvSpPr/>
          <p:nvPr/>
        </p:nvSpPr>
        <p:spPr>
          <a:xfrm rot="5400000">
            <a:off x="8876308" y="3445141"/>
            <a:ext cx="91440" cy="54864"/>
          </a:xfrm>
          <a:prstGeom prst="triangle">
            <a:avLst/>
          </a:prstGeom>
          <a:solidFill>
            <a:srgbClr val="FEF04A"/>
          </a:solidFill>
          <a:ln/>
        </p:spPr>
      </p:sp>
      <p:sp>
        <p:nvSpPr>
          <p:cNvPr id="72" name="Text 70"/>
          <p:cNvSpPr/>
          <p:nvPr/>
        </p:nvSpPr>
        <p:spPr>
          <a:xfrm>
            <a:off x="7897900" y="3344557"/>
            <a:ext cx="1097280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650" dirty="0">
                <a:solidFill>
                  <a:srgbClr val="FEF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distance &lt; threshold</a:t>
            </a:r>
            <a:endParaRPr lang="en-US" sz="650" dirty="0"/>
          </a:p>
        </p:txBody>
      </p:sp>
      <p:sp>
        <p:nvSpPr>
          <p:cNvPr id="73" name="Shape 71"/>
          <p:cNvSpPr/>
          <p:nvPr/>
        </p:nvSpPr>
        <p:spPr>
          <a:xfrm>
            <a:off x="8144788" y="2997085"/>
            <a:ext cx="201168" cy="182880"/>
          </a:xfrm>
          <a:prstGeom prst="triangle">
            <a:avLst/>
          </a:prstGeom>
          <a:solidFill>
            <a:srgbClr val="FEF04A"/>
          </a:solidFill>
          <a:ln/>
        </p:spPr>
      </p:sp>
      <p:sp>
        <p:nvSpPr>
          <p:cNvPr id="74" name="Text 72"/>
          <p:cNvSpPr/>
          <p:nvPr/>
        </p:nvSpPr>
        <p:spPr>
          <a:xfrm>
            <a:off x="8144788" y="2997085"/>
            <a:ext cx="2011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D06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400" dirty="0"/>
          </a:p>
        </p:txBody>
      </p:sp>
      <p:sp>
        <p:nvSpPr>
          <p:cNvPr id="75" name="Shape 73"/>
          <p:cNvSpPr/>
          <p:nvPr/>
        </p:nvSpPr>
        <p:spPr>
          <a:xfrm rot="10800000">
            <a:off x="6910348" y="3847477"/>
            <a:ext cx="146304" cy="128016"/>
          </a:xfrm>
          <a:prstGeom prst="triangle">
            <a:avLst/>
          </a:prstGeom>
          <a:solidFill>
            <a:srgbClr val="EE4C40"/>
          </a:solidFill>
          <a:ln/>
        </p:spPr>
      </p:sp>
      <p:sp>
        <p:nvSpPr>
          <p:cNvPr id="76" name="Shape 74"/>
          <p:cNvSpPr/>
          <p:nvPr/>
        </p:nvSpPr>
        <p:spPr>
          <a:xfrm rot="10800000">
            <a:off x="7111516" y="3847477"/>
            <a:ext cx="146304" cy="128016"/>
          </a:xfrm>
          <a:prstGeom prst="triangle">
            <a:avLst/>
          </a:prstGeom>
          <a:solidFill>
            <a:srgbClr val="EE4C40"/>
          </a:solidFill>
          <a:ln/>
        </p:spPr>
      </p:sp>
      <p:sp>
        <p:nvSpPr>
          <p:cNvPr id="77" name="Shape 75"/>
          <p:cNvSpPr/>
          <p:nvPr/>
        </p:nvSpPr>
        <p:spPr>
          <a:xfrm rot="10800000">
            <a:off x="7312684" y="3847477"/>
            <a:ext cx="146304" cy="128016"/>
          </a:xfrm>
          <a:prstGeom prst="triangle">
            <a:avLst/>
          </a:prstGeom>
          <a:solidFill>
            <a:srgbClr val="EE4C40"/>
          </a:solidFill>
          <a:ln/>
        </p:spPr>
      </p:sp>
      <p:sp>
        <p:nvSpPr>
          <p:cNvPr id="78" name="Text 76"/>
          <p:cNvSpPr/>
          <p:nvPr/>
        </p:nvSpPr>
        <p:spPr>
          <a:xfrm>
            <a:off x="6910348" y="3975493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E4C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BRAKE</a:t>
            </a:r>
            <a:endParaRPr lang="en-US" sz="700" dirty="0"/>
          </a:p>
        </p:txBody>
      </p:sp>
      <p:sp>
        <p:nvSpPr>
          <p:cNvPr id="79" name="Text 77"/>
          <p:cNvSpPr/>
          <p:nvPr/>
        </p:nvSpPr>
        <p:spPr>
          <a:xfrm>
            <a:off x="6773188" y="2722765"/>
            <a:ext cx="640080" cy="137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600" dirty="0">
                <a:solidFill>
                  <a:srgbClr val="1EEF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RADAR</a:t>
            </a:r>
            <a:endParaRPr lang="en-US" sz="600" dirty="0"/>
          </a:p>
        </p:txBody>
      </p:sp>
      <p:sp>
        <p:nvSpPr>
          <p:cNvPr id="80" name="Text 78"/>
          <p:cNvSpPr/>
          <p:nvPr/>
        </p:nvSpPr>
        <p:spPr>
          <a:xfrm>
            <a:off x="6864628" y="3179965"/>
            <a:ext cx="640080" cy="1097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600" dirty="0">
                <a:solidFill>
                  <a:srgbClr val="CD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CAMERA</a:t>
            </a:r>
            <a:endParaRPr lang="en-US" sz="600" dirty="0"/>
          </a:p>
        </p:txBody>
      </p:sp>
      <p:sp>
        <p:nvSpPr>
          <p:cNvPr id="81" name="Text 79"/>
          <p:cNvSpPr/>
          <p:nvPr/>
        </p:nvSpPr>
        <p:spPr>
          <a:xfrm>
            <a:off x="8007628" y="4030357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CD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Collision risk detected → Autonomous braking engaged</a:t>
            </a:r>
            <a:endParaRPr lang="en-US" sz="800" dirty="0"/>
          </a:p>
        </p:txBody>
      </p:sp>
      <p:sp>
        <p:nvSpPr>
          <p:cNvPr id="82" name="Text 80"/>
          <p:cNvSpPr/>
          <p:nvPr/>
        </p:nvSpPr>
        <p:spPr>
          <a:xfrm>
            <a:off x="6636028" y="4350397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EF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BENEFITS</a:t>
            </a:r>
            <a:endParaRPr lang="en-US" sz="1100" dirty="0"/>
          </a:p>
        </p:txBody>
      </p:sp>
      <p:sp>
        <p:nvSpPr>
          <p:cNvPr id="83" name="Text 81"/>
          <p:cNvSpPr/>
          <p:nvPr/>
        </p:nvSpPr>
        <p:spPr>
          <a:xfrm>
            <a:off x="6636028" y="4606429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Reduces rear-end collisions by up to 50% (Euro NCAP)</a:t>
            </a:r>
            <a:endParaRPr lang="en-US" sz="850" dirty="0"/>
          </a:p>
        </p:txBody>
      </p:sp>
      <p:sp>
        <p:nvSpPr>
          <p:cNvPr id="84" name="Text 82"/>
          <p:cNvSpPr/>
          <p:nvPr/>
        </p:nvSpPr>
        <p:spPr>
          <a:xfrm>
            <a:off x="6636028" y="4880749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Operates at city &amp; highway speeds (5–250 km/h)</a:t>
            </a:r>
            <a:endParaRPr lang="en-US" sz="850" dirty="0"/>
          </a:p>
        </p:txBody>
      </p:sp>
      <p:sp>
        <p:nvSpPr>
          <p:cNvPr id="85" name="Text 83"/>
          <p:cNvSpPr/>
          <p:nvPr/>
        </p:nvSpPr>
        <p:spPr>
          <a:xfrm>
            <a:off x="6636028" y="5155069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Detects vehicles, pedestrians, cyclists &amp; static obstacles</a:t>
            </a:r>
            <a:endParaRPr lang="en-US" sz="850" dirty="0"/>
          </a:p>
        </p:txBody>
      </p:sp>
      <p:sp>
        <p:nvSpPr>
          <p:cNvPr id="86" name="Text 84"/>
          <p:cNvSpPr/>
          <p:nvPr/>
        </p:nvSpPr>
        <p:spPr>
          <a:xfrm>
            <a:off x="6636028" y="5429389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Mandatory for all new vehicles in EU since 2024</a:t>
            </a:r>
            <a:endParaRPr lang="en-US" sz="850" dirty="0"/>
          </a:p>
        </p:txBody>
      </p:sp>
      <p:sp>
        <p:nvSpPr>
          <p:cNvPr id="87" name="Shape 85"/>
          <p:cNvSpPr/>
          <p:nvPr/>
        </p:nvSpPr>
        <p:spPr>
          <a:xfrm>
            <a:off x="526774" y="5875616"/>
            <a:ext cx="11064240" cy="10973"/>
          </a:xfrm>
          <a:prstGeom prst="rect">
            <a:avLst/>
          </a:prstGeom>
          <a:solidFill>
            <a:srgbClr val="373741"/>
          </a:solidFill>
          <a:ln/>
        </p:spPr>
      </p:sp>
      <p:sp>
        <p:nvSpPr>
          <p:cNvPr id="88" name="Text 86"/>
          <p:cNvSpPr/>
          <p:nvPr/>
        </p:nvSpPr>
        <p:spPr>
          <a:xfrm>
            <a:off x="526774" y="5967056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EEF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-50%</a:t>
            </a:r>
            <a:endParaRPr lang="en-US" sz="2000" dirty="0"/>
          </a:p>
        </p:txBody>
      </p:sp>
      <p:sp>
        <p:nvSpPr>
          <p:cNvPr id="89" name="Text 87"/>
          <p:cNvSpPr/>
          <p:nvPr/>
        </p:nvSpPr>
        <p:spPr>
          <a:xfrm>
            <a:off x="526774" y="6213944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CD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Collision Reduction</a:t>
            </a:r>
            <a:endParaRPr lang="en-US" sz="850" dirty="0"/>
          </a:p>
        </p:txBody>
      </p:sp>
      <p:sp>
        <p:nvSpPr>
          <p:cNvPr id="90" name="Text 88"/>
          <p:cNvSpPr/>
          <p:nvPr/>
        </p:nvSpPr>
        <p:spPr>
          <a:xfrm>
            <a:off x="3292834" y="5967056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EEF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0.5s</a:t>
            </a:r>
            <a:endParaRPr lang="en-US" sz="2000" dirty="0"/>
          </a:p>
        </p:txBody>
      </p:sp>
      <p:sp>
        <p:nvSpPr>
          <p:cNvPr id="91" name="Text 89"/>
          <p:cNvSpPr/>
          <p:nvPr/>
        </p:nvSpPr>
        <p:spPr>
          <a:xfrm>
            <a:off x="3292834" y="6213944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CD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Response</a:t>
            </a:r>
            <a:endParaRPr lang="en-US" sz="850" dirty="0"/>
          </a:p>
        </p:txBody>
      </p:sp>
      <p:sp>
        <p:nvSpPr>
          <p:cNvPr id="92" name="Text 90"/>
          <p:cNvSpPr/>
          <p:nvPr/>
        </p:nvSpPr>
        <p:spPr>
          <a:xfrm>
            <a:off x="6357863" y="5944792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EEF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5-250 km/h</a:t>
            </a:r>
            <a:endParaRPr lang="en-US" sz="2000" dirty="0"/>
          </a:p>
        </p:txBody>
      </p:sp>
      <p:sp>
        <p:nvSpPr>
          <p:cNvPr id="93" name="Text 91"/>
          <p:cNvSpPr/>
          <p:nvPr/>
        </p:nvSpPr>
        <p:spPr>
          <a:xfrm>
            <a:off x="6357863" y="619168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CD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Speed Range</a:t>
            </a:r>
            <a:endParaRPr lang="en-US" sz="850" dirty="0"/>
          </a:p>
        </p:txBody>
      </p:sp>
      <p:sp>
        <p:nvSpPr>
          <p:cNvPr id="94" name="Text 92"/>
          <p:cNvSpPr/>
          <p:nvPr/>
        </p:nvSpPr>
        <p:spPr>
          <a:xfrm>
            <a:off x="9123923" y="5944792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EEF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2024+</a:t>
            </a:r>
            <a:endParaRPr lang="en-US" sz="2000" dirty="0"/>
          </a:p>
        </p:txBody>
      </p:sp>
      <p:sp>
        <p:nvSpPr>
          <p:cNvPr id="95" name="Text 93"/>
          <p:cNvSpPr/>
          <p:nvPr/>
        </p:nvSpPr>
        <p:spPr>
          <a:xfrm>
            <a:off x="9123923" y="619168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CD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 Mandatory</a:t>
            </a:r>
            <a:endParaRPr lang="en-US" sz="850" dirty="0"/>
          </a:p>
        </p:txBody>
      </p:sp>
      <p:sp>
        <p:nvSpPr>
          <p:cNvPr id="96" name="Text 94"/>
          <p:cNvSpPr/>
          <p:nvPr/>
        </p:nvSpPr>
        <p:spPr>
          <a:xfrm>
            <a:off x="526774" y="6332816"/>
            <a:ext cx="4572000" cy="137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/ CONFIDENTIAL  |  CSD class: 2.5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207</Words>
  <Application>Microsoft Office PowerPoint</Application>
  <PresentationFormat>宽屏</PresentationFormat>
  <Paragraphs>36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Arial</vt:lpstr>
      <vt:lpstr>Calibri</vt:lpstr>
      <vt:lpstr>Office Theme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丽 雪丽</cp:lastModifiedBy>
  <cp:revision>2</cp:revision>
  <dcterms:created xsi:type="dcterms:W3CDTF">2026-05-18T08:42:29Z</dcterms:created>
  <dcterms:modified xsi:type="dcterms:W3CDTF">2026-05-18T09:01:58Z</dcterms:modified>
</cp:coreProperties>
</file>