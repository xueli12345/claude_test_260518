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  <p:sldId id="26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0" autoAdjust="0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Relationship Id="rId3" Type="http://schemas.openxmlformats.org/officeDocument/2006/relationships/notesSlide" Target="../notesSlides/notesSlid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0914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A R I A 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26774" y="800696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526774" y="1532216"/>
            <a:ext cx="18288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Text 6"/>
          <p:cNvSpPr/>
          <p:nvPr/>
        </p:nvSpPr>
        <p:spPr>
          <a:xfrm>
            <a:off x="526774" y="176081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Emergency Braking  |  自动紧急制动系统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6774" y="244661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AEB?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6774" y="2766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(Autonomous Emergency Braking) is an advanced driver assistance system that automatically applies the brakes when a collision is imminent and the driver fails to respond in time.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26774" y="372677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6774" y="40468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SENSE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6774" y="428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Radar, camera &amp; LiDAR sensors continuously monitor the road ahead for vehicles, pedestrians &amp; obstacles.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6774" y="461374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DECIDE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6774" y="48514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 evaluates collision risk based on relative speed, distance &amp; trajectory — triggering alerts then braking.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6774" y="51806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ACT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26774" y="541841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driver does not react, the system autonomously applies full braking force to avoid or mitigate collision.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31451" y="2700501"/>
            <a:ext cx="45719" cy="2908985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9" name="Text 17"/>
          <p:cNvSpPr/>
          <p:nvPr/>
        </p:nvSpPr>
        <p:spPr>
          <a:xfrm>
            <a:off x="6636028" y="1790077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IN 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36028" y="2567317"/>
            <a:ext cx="5303520" cy="1600200"/>
          </a:xfrm>
          <a:prstGeom prst="rect">
            <a:avLst/>
          </a:prstGeom>
          <a:solidFill>
            <a:srgbClr val="1A0A30"/>
          </a:solidFill>
          <a:ln/>
        </p:spPr>
      </p:sp>
      <p:sp>
        <p:nvSpPr>
          <p:cNvPr id="21" name="Shape 19"/>
          <p:cNvSpPr/>
          <p:nvPr/>
        </p:nvSpPr>
        <p:spPr>
          <a:xfrm>
            <a:off x="67274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75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3" name="Shape 21"/>
          <p:cNvSpPr/>
          <p:nvPr/>
        </p:nvSpPr>
        <p:spPr>
          <a:xfrm>
            <a:off x="73675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75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5" name="Shape 23"/>
          <p:cNvSpPr/>
          <p:nvPr/>
        </p:nvSpPr>
        <p:spPr>
          <a:xfrm>
            <a:off x="80076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76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7" name="Shape 25"/>
          <p:cNvSpPr/>
          <p:nvPr/>
        </p:nvSpPr>
        <p:spPr>
          <a:xfrm>
            <a:off x="86477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8" name="Shape 26"/>
          <p:cNvSpPr/>
          <p:nvPr/>
        </p:nvSpPr>
        <p:spPr>
          <a:xfrm>
            <a:off x="89677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9" name="Shape 27"/>
          <p:cNvSpPr/>
          <p:nvPr/>
        </p:nvSpPr>
        <p:spPr>
          <a:xfrm>
            <a:off x="92877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0" name="Shape 28"/>
          <p:cNvSpPr/>
          <p:nvPr/>
        </p:nvSpPr>
        <p:spPr>
          <a:xfrm>
            <a:off x="96078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1" name="Shape 29"/>
          <p:cNvSpPr/>
          <p:nvPr/>
        </p:nvSpPr>
        <p:spPr>
          <a:xfrm>
            <a:off x="99278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479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679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4" name="Shape 32"/>
          <p:cNvSpPr/>
          <p:nvPr/>
        </p:nvSpPr>
        <p:spPr>
          <a:xfrm>
            <a:off x="108879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5" name="Shape 33"/>
          <p:cNvSpPr/>
          <p:nvPr/>
        </p:nvSpPr>
        <p:spPr>
          <a:xfrm>
            <a:off x="112080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80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7" name="Shape 35"/>
          <p:cNvSpPr/>
          <p:nvPr/>
        </p:nvSpPr>
        <p:spPr>
          <a:xfrm>
            <a:off x="67274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8" name="Shape 36"/>
          <p:cNvSpPr/>
          <p:nvPr/>
        </p:nvSpPr>
        <p:spPr>
          <a:xfrm>
            <a:off x="70475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75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75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1" name="Shape 39"/>
          <p:cNvSpPr/>
          <p:nvPr/>
        </p:nvSpPr>
        <p:spPr>
          <a:xfrm>
            <a:off x="80076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76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3" name="Shape 41"/>
          <p:cNvSpPr/>
          <p:nvPr/>
        </p:nvSpPr>
        <p:spPr>
          <a:xfrm>
            <a:off x="86477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4" name="Shape 42"/>
          <p:cNvSpPr/>
          <p:nvPr/>
        </p:nvSpPr>
        <p:spPr>
          <a:xfrm>
            <a:off x="89677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5" name="Shape 43"/>
          <p:cNvSpPr/>
          <p:nvPr/>
        </p:nvSpPr>
        <p:spPr>
          <a:xfrm>
            <a:off x="92877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6" name="Shape 44"/>
          <p:cNvSpPr/>
          <p:nvPr/>
        </p:nvSpPr>
        <p:spPr>
          <a:xfrm>
            <a:off x="96078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7" name="Shape 45"/>
          <p:cNvSpPr/>
          <p:nvPr/>
        </p:nvSpPr>
        <p:spPr>
          <a:xfrm>
            <a:off x="99278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479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9" name="Shape 47"/>
          <p:cNvSpPr/>
          <p:nvPr/>
        </p:nvSpPr>
        <p:spPr>
          <a:xfrm>
            <a:off x="105679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0" name="Shape 48"/>
          <p:cNvSpPr/>
          <p:nvPr/>
        </p:nvSpPr>
        <p:spPr>
          <a:xfrm>
            <a:off x="108879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1" name="Shape 49"/>
          <p:cNvSpPr/>
          <p:nvPr/>
        </p:nvSpPr>
        <p:spPr>
          <a:xfrm>
            <a:off x="112080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2" name="Shape 50"/>
          <p:cNvSpPr/>
          <p:nvPr/>
        </p:nvSpPr>
        <p:spPr>
          <a:xfrm>
            <a:off x="115280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3" name="Shape 51"/>
          <p:cNvSpPr/>
          <p:nvPr/>
        </p:nvSpPr>
        <p:spPr>
          <a:xfrm>
            <a:off x="6864628" y="3271405"/>
            <a:ext cx="960120" cy="41148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54" name="Shape 52"/>
          <p:cNvSpPr/>
          <p:nvPr/>
        </p:nvSpPr>
        <p:spPr>
          <a:xfrm>
            <a:off x="6956068" y="3307981"/>
            <a:ext cx="502920" cy="256032"/>
          </a:xfrm>
          <a:prstGeom prst="rect">
            <a:avLst/>
          </a:prstGeom>
          <a:solidFill>
            <a:srgbClr val="5A4AF0"/>
          </a:solidFill>
          <a:ln/>
        </p:spPr>
      </p:sp>
      <p:sp>
        <p:nvSpPr>
          <p:cNvPr id="55" name="Shape 53"/>
          <p:cNvSpPr/>
          <p:nvPr/>
        </p:nvSpPr>
        <p:spPr>
          <a:xfrm>
            <a:off x="6910348" y="3234829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6" name="Shape 54"/>
          <p:cNvSpPr/>
          <p:nvPr/>
        </p:nvSpPr>
        <p:spPr>
          <a:xfrm>
            <a:off x="7596148" y="3234829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7" name="Shape 55"/>
          <p:cNvSpPr/>
          <p:nvPr/>
        </p:nvSpPr>
        <p:spPr>
          <a:xfrm>
            <a:off x="6910348" y="3628021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8" name="Shape 56"/>
          <p:cNvSpPr/>
          <p:nvPr/>
        </p:nvSpPr>
        <p:spPr>
          <a:xfrm>
            <a:off x="7596148" y="3628021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9" name="Text 57"/>
          <p:cNvSpPr/>
          <p:nvPr/>
        </p:nvSpPr>
        <p:spPr>
          <a:xfrm>
            <a:off x="6910348" y="3088525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864628" y="2887357"/>
            <a:ext cx="1371600" cy="438912"/>
          </a:xfrm>
          <a:prstGeom prst="triangle">
            <a:avLst/>
          </a:prstGeom>
          <a:solidFill>
            <a:srgbClr val="1EEF97">
              <a:alpha val="1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956068" y="2750197"/>
            <a:ext cx="1005840" cy="576072"/>
          </a:xfrm>
          <a:prstGeom prst="triangle">
            <a:avLst/>
          </a:prstGeom>
          <a:solidFill>
            <a:srgbClr val="1EEF97">
              <a:alpha val="2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065796" y="2567317"/>
            <a:ext cx="640080" cy="758952"/>
          </a:xfrm>
          <a:prstGeom prst="triangle">
            <a:avLst/>
          </a:prstGeom>
          <a:solidFill>
            <a:srgbClr val="1EEF97">
              <a:alpha val="4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7748" y="3271405"/>
            <a:ext cx="594360" cy="347472"/>
          </a:xfrm>
          <a:prstGeom prst="rect">
            <a:avLst/>
          </a:prstGeom>
          <a:solidFill>
            <a:srgbClr val="EE4C40"/>
          </a:solidFill>
          <a:ln/>
        </p:spPr>
      </p:sp>
      <p:sp>
        <p:nvSpPr>
          <p:cNvPr id="64" name="Shape 62"/>
          <p:cNvSpPr/>
          <p:nvPr/>
        </p:nvSpPr>
        <p:spPr>
          <a:xfrm>
            <a:off x="9013468" y="3298837"/>
            <a:ext cx="320040" cy="201168"/>
          </a:xfrm>
          <a:prstGeom prst="rect">
            <a:avLst/>
          </a:prstGeom>
          <a:solidFill>
            <a:srgbClr val="EE7066"/>
          </a:solidFill>
          <a:ln/>
        </p:spPr>
      </p:sp>
      <p:sp>
        <p:nvSpPr>
          <p:cNvPr id="65" name="Shape 63"/>
          <p:cNvSpPr/>
          <p:nvPr/>
        </p:nvSpPr>
        <p:spPr>
          <a:xfrm>
            <a:off x="8995180" y="3234829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6" name="Shape 64"/>
          <p:cNvSpPr/>
          <p:nvPr/>
        </p:nvSpPr>
        <p:spPr>
          <a:xfrm>
            <a:off x="9424948" y="3234829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7" name="Shape 65"/>
          <p:cNvSpPr/>
          <p:nvPr/>
        </p:nvSpPr>
        <p:spPr>
          <a:xfrm>
            <a:off x="8995180" y="3564013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8" name="Shape 66"/>
          <p:cNvSpPr/>
          <p:nvPr/>
        </p:nvSpPr>
        <p:spPr>
          <a:xfrm>
            <a:off x="9424948" y="3564013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9" name="Text 67"/>
          <p:cNvSpPr/>
          <p:nvPr/>
        </p:nvSpPr>
        <p:spPr>
          <a:xfrm>
            <a:off x="8830588" y="3070237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E4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843036" y="3472573"/>
            <a:ext cx="1097280" cy="0"/>
          </a:xfrm>
          <a:prstGeom prst="line">
            <a:avLst/>
          </a:prstGeom>
          <a:noFill/>
          <a:ln w="19050">
            <a:solidFill>
              <a:srgbClr val="FEF04A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rot="5400000">
            <a:off x="8876308" y="3445141"/>
            <a:ext cx="91440" cy="54864"/>
          </a:xfrm>
          <a:prstGeom prst="triangle">
            <a:avLst/>
          </a:prstGeom>
          <a:solidFill>
            <a:srgbClr val="FEF04A"/>
          </a:solidFill>
          <a:ln/>
        </p:spPr>
      </p:sp>
      <p:sp>
        <p:nvSpPr>
          <p:cNvPr id="72" name="Text 70"/>
          <p:cNvSpPr/>
          <p:nvPr/>
        </p:nvSpPr>
        <p:spPr>
          <a:xfrm>
            <a:off x="7897900" y="3344557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FEF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&lt; threshold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8144788" y="2997085"/>
            <a:ext cx="201168" cy="182880"/>
          </a:xfrm>
          <a:prstGeom prst="triangle">
            <a:avLst/>
          </a:prstGeom>
          <a:solidFill>
            <a:srgbClr val="FEF04A"/>
          </a:solidFill>
          <a:ln/>
        </p:spPr>
      </p:sp>
      <p:sp>
        <p:nvSpPr>
          <p:cNvPr id="74" name="Text 72"/>
          <p:cNvSpPr/>
          <p:nvPr/>
        </p:nvSpPr>
        <p:spPr>
          <a:xfrm>
            <a:off x="8144788" y="2997085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0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 rot="10800000">
            <a:off x="6910348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7111516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7" name="Shape 75"/>
          <p:cNvSpPr/>
          <p:nvPr/>
        </p:nvSpPr>
        <p:spPr>
          <a:xfrm rot="10800000">
            <a:off x="7312684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8" name="Text 76"/>
          <p:cNvSpPr/>
          <p:nvPr/>
        </p:nvSpPr>
        <p:spPr>
          <a:xfrm>
            <a:off x="6910348" y="3975493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E4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773188" y="2722765"/>
            <a:ext cx="6400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6864628" y="3179965"/>
            <a:ext cx="640080" cy="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8007628" y="4030357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risk detected → Autonomous braking engaged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636028" y="4350397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BENEFITS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6636028" y="460642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Reduces rear-end collisions by up to 50% (Euro NCAP)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6636028" y="488074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Operates at city &amp; highway speeds (5–250 km/h)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636028" y="515506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Detects vehicles, pedestrians, cyclists &amp; static obstacles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636028" y="542938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Mandatory for all new vehicles in EU since 2024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88" name="Text 86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-50%</a:t>
            </a:r>
            <a:endParaRPr lang="en-US" sz="2000" dirty="0"/>
          </a:p>
        </p:txBody>
      </p:sp>
      <p:sp>
        <p:nvSpPr>
          <p:cNvPr id="89" name="Text 87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Reduction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0.5s</a:t>
            </a:r>
            <a:endParaRPr lang="en-US" sz="2000" dirty="0"/>
          </a:p>
        </p:txBody>
      </p:sp>
      <p:sp>
        <p:nvSpPr>
          <p:cNvPr id="91" name="Text 89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Response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357863" y="59447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5-250 km/h</a:t>
            </a:r>
            <a:endParaRPr lang="en-US" sz="2000" dirty="0"/>
          </a:p>
        </p:txBody>
      </p:sp>
      <p:sp>
        <p:nvSpPr>
          <p:cNvPr id="93" name="Text 91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Range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9123923" y="59447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2024+</a:t>
            </a:r>
            <a:endParaRPr lang="en-US" sz="2000" dirty="0"/>
          </a:p>
        </p:txBody>
      </p:sp>
      <p:sp>
        <p:nvSpPr>
          <p:cNvPr id="95" name="Text 93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Mandatory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26774" y="6332816"/>
            <a:ext cx="4572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/ CONFIDENTIAL  |  CSD class: 2.5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Line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LeftBar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GreenDot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CARIAD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 A R I A D</a:t>
            </a:r>
          </a:p>
        </p:txBody>
      </p:sp>
      <p:sp>
        <p:nvSpPr>
          <p:cNvPr id="6" name="MainTitle"/>
          <p:cNvSpPr/>
          <p:nvPr/>
        </p:nvSpPr>
        <p:spPr>
          <a:xfrm>
            <a:off x="526774" y="700000"/>
            <a:ext cx="109728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C-NCAP 2027 </a:t>
            </a:r>
            <a:r>
              <a:rPr lang="en-US" sz="3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AEB</a:t>
            </a: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 测试场景总览</a:t>
            </a:r>
          </a:p>
        </p:txBody>
      </p:sp>
      <p:sp>
        <p:nvSpPr>
          <p:cNvPr id="7" name="Underline"/>
          <p:cNvSpPr/>
          <p:nvPr/>
        </p:nvSpPr>
        <p:spPr>
          <a:xfrm>
            <a:off x="526774" y="1400000"/>
            <a:ext cx="27432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Subtitle"/>
          <p:cNvSpPr/>
          <p:nvPr/>
        </p:nvSpPr>
        <p:spPr>
          <a:xfrm>
            <a:off x="526774" y="1500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6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/ FCW / AES | 车对弱势道路使用者 + 车对车 | 基础 + 拓展场景</a:t>
            </a:r>
          </a:p>
        </p:txBody>
      </p:sp>
      <p:sp>
        <p:nvSpPr>
          <p:cNvPr id="9" name="VLine"/>
          <p:cNvSpPr/>
          <p:nvPr/>
        </p:nvSpPr>
        <p:spPr>
          <a:xfrm>
            <a:off x="6131451" y="2050000"/>
            <a:ext cx="45719" cy="3600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0" name="LeftHeader"/>
          <p:cNvSpPr/>
          <p:nvPr/>
        </p:nvSpPr>
        <p:spPr>
          <a:xfrm>
            <a:off x="526774" y="2000000"/>
            <a:ext cx="510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附录P — VRU / 弱势道路使用者保护</a:t>
            </a:r>
          </a:p>
        </p:txBody>
      </p:sp>
      <p:sp>
        <p:nvSpPr>
          <p:cNvPr id="11" name="LeftList"/>
          <p:cNvSpPr/>
          <p:nvPr/>
        </p:nvSpPr>
        <p:spPr>
          <a:xfrm>
            <a:off x="526774" y="2350000"/>
            <a:ext cx="5100000" cy="3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车对行人 (6项基础 · 权重70%)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CPLA 纵向冲突 / CPFA 远端横穿 / CPNYC 幼儿近端横穿 / CPTA-LF 左转横穿 / CPTA-RF 右转横穿 / CPYCL 幼儿低速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车对行人·拓展 (6项 · 权重30%)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CPFAr 雨天远端横穿 / CPFC-MO 动态遮挡儿童 / CPNC-AI 行人干扰儿童 / CPFC-BI 二轮车干扰儿童 / CPFAh 高速远端横穿 / CPLAh 高速纵向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车对二轮车 (6项基础 · 权重70%)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CBLAb 电动自行车纵向(夜) / CBOA 电动自行车斜向 / CBNA 自行车近端横穿 / CSFA 踏板摩托远端横穿 / CSTA-LN 左转踏板摩托 / CSTA-RN 右转踏板摩托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车对二轮车·拓展 (10项 · 权重30%)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CBLAt 转弯切入 / CBLAc 变道切入 / CBOFA 斜穿遮挡 / CBNA-AI 行人干扰 / CSFA-BI 二轮车干扰 / CBFA-MO 动态遮挡 / CSTAO-RN 右转遮挡 / C2S RCPf 右转远端 / C2B RCPn 右转近端 / CSFhol 直行对向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车对三轮车 (3项基础)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CTRc 切入追尾 / CTFA 横穿 / CTFT 转弯对撞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功能覆盖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+ FCW + AES (自动紧急转向/避让)</a:t>
            </a:r>
          </a:p>
          <a:p>
            <a:pPr marL="0" indent="0" algn="l">
              <a:buNone/>
            </a:pPr>
            <a:endParaRPr lang="zh-CN" sz="600" dirty="0"/>
          </a:p>
        </p:txBody>
      </p:sp>
      <p:sp>
        <p:nvSpPr>
          <p:cNvPr id="20" name="RightHeader"/>
          <p:cNvSpPr/>
          <p:nvPr/>
        </p:nvSpPr>
        <p:spPr>
          <a:xfrm>
            <a:off x="6636028" y="2000000"/>
            <a:ext cx="510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附录Q — C2C / 车对车 ADAS 测试</a:t>
            </a:r>
          </a:p>
        </p:txBody>
      </p:sp>
      <p:sp>
        <p:nvSpPr>
          <p:cNvPr id="21" name="RightList"/>
          <p:cNvSpPr/>
          <p:nvPr/>
        </p:nvSpPr>
        <p:spPr>
          <a:xfrm>
            <a:off x="6636028" y="2350000"/>
            <a:ext cx="5100000" cy="3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基础场景 (6项 · 必测)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CCRc 切入追尾 / CCRh 高速追尾 / CCRb 制动追尾 / C2C SCPf 远端横穿 / CCFT 转弯对撞 / CCRbc 弯道制动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拓展场景 (10项 · 抽测验证)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CCRsr 雨天追尾 / CCRsf 雾天追尾 / CCFhos 直行对撞 / C2C SCPn 近端横穿 / SCPmo 动态遮挡横穿 / CCFTf 跟车转弯对撞 / LCPf/LCPn 左转横穿 / RCPf 右转横穿 / SCPso 静态遮挡横穿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测试速度范围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基础: 40–120 km/h | 拓展: 30–120 km/h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功能覆盖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+ FCW + AES + LKA + ELK + DMS + BSD + DOW + RCTB + ISLS + AMAP</a:t>
            </a:r>
          </a:p>
          <a:p>
            <a:pPr marL="0" indent="0" algn="l">
              <a:buNone/>
            </a:pPr>
            <a:endParaRPr lang="zh-CN" sz="600" dirty="0"/>
          </a:p>
        </p:txBody>
      </p:sp>
      <p:sp>
        <p:nvSpPr>
          <p:cNvPr id="90" name="BtmLine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91" name="Stat1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6+10</a:t>
            </a:r>
          </a:p>
        </p:txBody>
      </p:sp>
      <p:sp>
        <p:nvSpPr>
          <p:cNvPr id="92" name="Stat1Label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车对车测试场景 (必测+抽测)</a:t>
            </a:r>
          </a:p>
        </p:txBody>
      </p:sp>
      <p:sp>
        <p:nvSpPr>
          <p:cNvPr id="93" name="Stat2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31</a:t>
            </a:r>
          </a:p>
        </p:txBody>
      </p:sp>
      <p:sp>
        <p:nvSpPr>
          <p:cNvPr id="94" name="Stat2Label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VRU 测试场景 (行/二轮/三轮)</a:t>
            </a:r>
          </a:p>
        </p:txBody>
      </p:sp>
      <p:sp>
        <p:nvSpPr>
          <p:cNvPr id="95" name="Stat3"/>
          <p:cNvSpPr/>
          <p:nvPr/>
        </p:nvSpPr>
        <p:spPr>
          <a:xfrm>
            <a:off x="6357863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0–120 km/h</a:t>
            </a:r>
          </a:p>
        </p:txBody>
      </p:sp>
      <p:sp>
        <p:nvSpPr>
          <p:cNvPr id="96" name="Stat3Label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测试速度范围</a:t>
            </a:r>
          </a:p>
        </p:txBody>
      </p:sp>
      <p:sp>
        <p:nvSpPr>
          <p:cNvPr id="97" name="Stat4"/>
          <p:cNvSpPr/>
          <p:nvPr/>
        </p:nvSpPr>
        <p:spPr>
          <a:xfrm>
            <a:off x="9123923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2027</a:t>
            </a:r>
          </a:p>
        </p:txBody>
      </p:sp>
      <p:sp>
        <p:nvSpPr>
          <p:cNvPr id="98" name="Stat4Label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C-NCAP 版本</a:t>
            </a:r>
          </a:p>
        </p:txBody>
      </p:sp>
      <p:sp>
        <p:nvSpPr>
          <p:cNvPr id="99" name="Footer"/>
          <p:cNvSpPr/>
          <p:nvPr/>
        </p:nvSpPr>
        <p:spPr>
          <a:xfrm>
            <a:off x="526774" y="6450000"/>
            <a:ext cx="4572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</a:rPr>
              <a:t>INTERNAL / CONFIDENTIAL  |  CSD class: 2.5  |  Source: C-NCAP 2027 Management Rules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 - V2X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Line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LeftBar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GreenDot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CARIAD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 A R I A D</a:t>
            </a:r>
          </a:p>
        </p:txBody>
      </p:sp>
      <p:sp>
        <p:nvSpPr>
          <p:cNvPr id="6" name="MainTitle"/>
          <p:cNvSpPr/>
          <p:nvPr/>
        </p:nvSpPr>
        <p:spPr>
          <a:xfrm>
            <a:off x="526774" y="700000"/>
            <a:ext cx="10972800" cy="70000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V2X </a:t>
            </a:r>
            <a:r>
              <a:rPr lang="zh-CN" sz="32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赋能</a:t>
            </a:r>
            <a:r>
              <a:rPr lang="zh-CN" sz="3200" b="1" dirty="0">
                <a:solidFill>
                  <a:srgbClr val="FFFFFF"/>
                </a:solidFill>
                <a:latin typeface="Arial" pitchFamily="34" charset="0"/>
                <a:ea typeface="Microsoft YaHei" pitchFamily="34" charset="-122"/>
              </a:rPr>
              <a:t> C-NCAP 2027 AEB 测试场景</a:t>
            </a:r>
          </a:p>
        </p:txBody>
      </p:sp>
      <p:sp>
        <p:nvSpPr>
          <p:cNvPr id="7" name="Underline"/>
          <p:cNvSpPr/>
          <p:nvPr/>
        </p:nvSpPr>
        <p:spPr>
          <a:xfrm>
            <a:off x="526774" y="1400000"/>
            <a:ext cx="27432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Subtitle"/>
          <p:cNvSpPr/>
          <p:nvPr/>
        </p:nvSpPr>
        <p:spPr>
          <a:xfrm>
            <a:off x="526774" y="1500000"/>
            <a:ext cx="10972800" cy="32004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14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V2V 车车直连 | V2P 车与弱势道路使用者 | V2I 车路协同 | 非视距穿透 · 恶劣天气抗扰 · 意图共享</a:t>
            </a:r>
          </a:p>
        </p:txBody>
      </p:sp>
      <p:sp>
        <p:nvSpPr>
          <p:cNvPr id="9" name="VLine"/>
          <p:cNvSpPr/>
          <p:nvPr/>
        </p:nvSpPr>
        <p:spPr>
          <a:xfrm>
            <a:off x="6131451" y="2050000"/>
            <a:ext cx="45719" cy="3600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0" name="LeftHeader"/>
          <p:cNvSpPr/>
          <p:nvPr/>
        </p:nvSpPr>
        <p:spPr>
          <a:xfrm>
            <a:off x="526774" y="2000000"/>
            <a:ext cx="5100000" cy="32004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附录P — VRU场景 | V2P / 车与弱势道路使用者</a:t>
            </a:r>
          </a:p>
        </p:txBody>
      </p:sp>
      <p:sp>
        <p:nvSpPr>
          <p:cNvPr id="11" name="LeftList"/>
          <p:cNvSpPr/>
          <p:nvPr/>
        </p:nvSpPr>
        <p:spPr>
          <a:xfrm>
            <a:off x="526774" y="2350000"/>
            <a:ext cx="5100000" cy="380000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9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V2P 穿透遮挡 — 行人/二轮车感知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CPFC-MO 动态遮挡儿童 — 被挡儿童可被V2P提前感知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CPNC-AI / CPFC-BI 干扰横穿 — 被遮挡弱势道路使用者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CBOFA / CBFA-MO 遮挡斜穿 — 穿透车辆障碍物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CBNA-AI / CSFA-BI 干扰近端 — V2P弥补传感器盲区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CSTAO-RN 右转遮挡 — 路侧V2I+车端V2P协同</a:t>
            </a:r>
          </a:p>
          <a:p>
            <a:pPr marL="0" indent="0" algn="l">
              <a:buNone/>
            </a:pPr>
            <a:endParaRPr lang="zh-CN" sz="300" dirty="0"/>
          </a:p>
          <a:p>
            <a:pPr marL="0" indent="0" algn="l">
              <a:buNone/>
            </a:pPr>
            <a:r>
              <a:rPr lang="zh-CN" sz="9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V2P 转弯/横穿预警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CPTA-LF / CPTA-RF 转弯横穿行人 — 提前感知意图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C2S RCPf / C2B RCPn 转弯横穿二轮 — 路口盲区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CBLAt 转弯切入 / CBLAc 变道切入 — 意图共享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CSFhol 直行对向二轮 — 远距离V2P预警</a:t>
            </a:r>
          </a:p>
          <a:p>
            <a:pPr marL="0" indent="0" algn="l">
              <a:buNone/>
            </a:pPr>
            <a:endParaRPr lang="zh-CN" sz="300" dirty="0"/>
          </a:p>
          <a:p>
            <a:pPr marL="0" indent="0" algn="l">
              <a:buNone/>
            </a:pPr>
            <a:r>
              <a:rPr lang="zh-CN" sz="900" b="1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恶劣环境 — 天气/光照不敏感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CPFAr 雨天远端横穿 — 摄像头受限，V2X不受影响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CBLAb 电动自行车夜间 — 弱光下V2P优于视觉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CPFAh / CPLAh 高速场景 — 远距离V2P提前预警</a:t>
            </a:r>
          </a:p>
        </p:txBody>
      </p:sp>
      <p:sp>
        <p:nvSpPr>
          <p:cNvPr id="20" name="RightHeader"/>
          <p:cNvSpPr/>
          <p:nvPr/>
        </p:nvSpPr>
        <p:spPr>
          <a:xfrm>
            <a:off x="6636028" y="2000000"/>
            <a:ext cx="5100000" cy="32004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附录Q — C2C场景 | V2V / V2I 车车与车路协同</a:t>
            </a:r>
          </a:p>
        </p:txBody>
      </p:sp>
      <p:sp>
        <p:nvSpPr>
          <p:cNvPr id="21" name="RightList"/>
          <p:cNvSpPr/>
          <p:nvPr/>
        </p:nvSpPr>
        <p:spPr>
          <a:xfrm>
            <a:off x="6636028" y="2350000"/>
            <a:ext cx="5100000" cy="380000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9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V2V 遮挡/非视距 — 穿透障碍感知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C2C SCPmo 动态遮挡横穿 — 被挡车辆V2V预警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C2C SCPso 静态遮挡横穿 — 越过建筑物感知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CCFT / CCFTf 转弯对撞 — 路口建筑遮挡，V2V直连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LCPf / LCPn 左转横穿 — 对向遮挡车辆提前通信</a:t>
            </a:r>
          </a:p>
          <a:p>
            <a:pPr marL="0" indent="0" algn="l">
              <a:buNone/>
            </a:pPr>
            <a:endParaRPr lang="zh-CN" sz="300" dirty="0"/>
          </a:p>
          <a:p>
            <a:pPr marL="0" indent="0" algn="l">
              <a:buNone/>
            </a:pPr>
            <a:r>
              <a:rPr lang="zh-CN" sz="9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V2V 恶劣天气 — 传感器降级补偿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CCRsr 雨天追尾 — 雷达/摄像头衰减，V2V不受影响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CCRsf 雾天追尾 — 能见度极低，V2V稳定通信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CCFhos 直行对撞 — 雨雾天远距离V2V预警</a:t>
            </a:r>
          </a:p>
          <a:p>
            <a:pPr marL="0" indent="0" algn="l">
              <a:buNone/>
            </a:pPr>
            <a:endParaRPr lang="zh-CN" sz="300" dirty="0"/>
          </a:p>
          <a:p>
            <a:pPr marL="0" indent="0" algn="l">
              <a:buNone/>
            </a:pPr>
            <a:r>
              <a:rPr lang="zh-CN" sz="900" b="1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V2V 意图共享 — 切入/制动预警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CCRc 切入追尾 — 邻车变道意图实时共享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CCRb 制动追尾 — 前车制动信号低延迟广播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CCRh 高速追尾 / CCRbc 弯道制动 — 超视距补盲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RCPf 右转横穿 — 转向意图+位置共享</a:t>
            </a:r>
          </a:p>
          <a:p>
            <a:pPr marL="0" indent="0" algn="l">
              <a:buNone/>
            </a:pPr>
            <a:endParaRPr lang="zh-CN" sz="300" dirty="0"/>
          </a:p>
          <a:p>
            <a:pPr marL="0" indent="0" algn="l">
              <a:buNone/>
            </a:pPr>
            <a:r>
              <a:rPr lang="zh-CN" sz="900" b="1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V2I 路侧协同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全部路口转弯/横穿场景可通过V2I路侧单元(RSU)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获取路口全局目标列表，弥补单车感知盲区</a:t>
            </a:r>
          </a:p>
          <a:p>
            <a:pPr marL="171450" indent="0" algn="l">
              <a:buNone/>
            </a:pPr>
            <a:r>
              <a:rPr lang="zh-CN" sz="7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典型: CPTA系列 / CCFT系列 / C2C LCP&amp;SCP系列</a:t>
            </a:r>
          </a:p>
        </p:txBody>
      </p:sp>
      <p:sp>
        <p:nvSpPr>
          <p:cNvPr id="90" name="BtmLine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91" name="Stat1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~70%</a:t>
            </a:r>
          </a:p>
        </p:txBody>
      </p:sp>
      <p:sp>
        <p:nvSpPr>
          <p:cNvPr id="92" name="Stat1Label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8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场景可由V2X增强</a:t>
            </a:r>
          </a:p>
        </p:txBody>
      </p:sp>
      <p:sp>
        <p:nvSpPr>
          <p:cNvPr id="93" name="Stat2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V2V+P+I</a:t>
            </a:r>
          </a:p>
        </p:txBody>
      </p:sp>
      <p:sp>
        <p:nvSpPr>
          <p:cNvPr id="94" name="Stat2Label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8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V2X通信模式协同</a:t>
            </a:r>
          </a:p>
        </p:txBody>
      </p:sp>
      <p:sp>
        <p:nvSpPr>
          <p:cNvPr id="95" name="Stat3"/>
          <p:cNvSpPr/>
          <p:nvPr/>
        </p:nvSpPr>
        <p:spPr>
          <a:xfrm>
            <a:off x="6357863" y="5967056"/>
            <a:ext cx="2743200" cy="292608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NLOS</a:t>
            </a:r>
          </a:p>
        </p:txBody>
      </p:sp>
      <p:sp>
        <p:nvSpPr>
          <p:cNvPr id="96" name="Stat3Label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8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非视距穿透是核心优势</a:t>
            </a:r>
          </a:p>
        </p:txBody>
      </p:sp>
      <p:sp>
        <p:nvSpPr>
          <p:cNvPr id="97" name="Stat4"/>
          <p:cNvSpPr/>
          <p:nvPr/>
        </p:nvSpPr>
        <p:spPr>
          <a:xfrm>
            <a:off x="9123923" y="5967056"/>
            <a:ext cx="2743200" cy="292608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全天候</a:t>
            </a:r>
          </a:p>
        </p:txBody>
      </p:sp>
      <p:sp>
        <p:nvSpPr>
          <p:cNvPr id="98" name="Stat4Label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8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雨雾夜不受影响</a:t>
            </a:r>
          </a:p>
        </p:txBody>
      </p:sp>
      <p:sp>
        <p:nvSpPr>
          <p:cNvPr id="99" name="Footer"/>
          <p:cNvSpPr/>
          <p:nvPr/>
        </p:nvSpPr>
        <p:spPr>
          <a:xfrm>
            <a:off x="526774" y="6450000"/>
            <a:ext cx="4572000" cy="137160"/>
          </a:xfrm>
          <a:prstGeom prst="rect">
            <a:avLst/>
          </a:prstGeom>
          <a:noFill/>
          <a:ln/>
        </p:spPr>
        <p:txBody>
          <a:p>
            <a:pPr marL="0" indent="0" algn="l">
              <a:buNone/>
            </a:pPr>
            <a:r>
              <a:rPr lang="zh-CN" sz="700" dirty="0">
                <a:solidFill>
                  <a:srgbClr val="888888"/>
                </a:solidFill>
                <a:latin typeface="Arial" pitchFamily="34" charset="0"/>
                <a:ea typeface="Microsoft YaHei" pitchFamily="34" charset="-122"/>
              </a:rPr>
              <a:t>INTERNAL / CONFIDENTIAL  |  CSD class: 2.5  |  基于 C-NCAP 2027 场景的 V2X 赋能分析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682</Words>
  <Application>Microsoft Office PowerPoint</Application>
  <PresentationFormat>宽屏</PresentationFormat>
  <Paragraphs>78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Arial</vt:lpstr>
      <vt:lpstr>Calibri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丽 雪丽</cp:lastModifiedBy>
  <cp:revision>4</cp:revision>
  <dcterms:created xsi:type="dcterms:W3CDTF">2026-05-18T08:42:29Z</dcterms:created>
  <dcterms:modified xsi:type="dcterms:W3CDTF">2026-05-19T05:44:35Z</dcterms:modified>
</cp:coreProperties>
</file>