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  <p:sldId id="261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0" autoAdjust="0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Relationship Id="rId3" Type="http://schemas.openxmlformats.org/officeDocument/2006/relationships/notesSlide" Target="../notesSlides/notesSlid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0914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0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42E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42EE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11480"/>
            <a:ext cx="228600" cy="228600"/>
          </a:xfrm>
          <a:prstGeom prst="ellipse">
            <a:avLst/>
          </a:prstGeom>
          <a:solidFill>
            <a:srgbClr val="1EEF9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840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A R I A 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26774" y="800696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AEB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526774" y="1532216"/>
            <a:ext cx="1828800" cy="45720"/>
          </a:xfrm>
          <a:prstGeom prst="rect">
            <a:avLst/>
          </a:prstGeom>
          <a:solidFill>
            <a:srgbClr val="1EEF97"/>
          </a:solidFill>
          <a:ln/>
        </p:spPr>
      </p:sp>
      <p:sp>
        <p:nvSpPr>
          <p:cNvPr id="8" name="Text 6"/>
          <p:cNvSpPr/>
          <p:nvPr/>
        </p:nvSpPr>
        <p:spPr>
          <a:xfrm>
            <a:off x="526774" y="1760816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Emergency Braking  |  自动紧急制动系统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6774" y="24466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AEB?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6774" y="2766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AEB (Autonomous Emergency Braking) is an advanced driver assistance system that automatically applies the brakes when a collision is imminent and the driver fails to respond in time.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6774" y="37267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6774" y="404681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42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SENSE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6774" y="4284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Radar, camera &amp; LiDAR sensors continuously monitor the road ahead for vehicles, pedestrians &amp; obstacles.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6774" y="46137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42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DECIDE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6774" y="48514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 evaluates collision risk based on relative speed, distance &amp; trajectory — triggering alerts then braking.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6774" y="51806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42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ACT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6774" y="541841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driver does not react, the system autonomously applies full braking force to avoid or mitigate collision.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31451" y="2700501"/>
            <a:ext cx="45719" cy="2908985"/>
          </a:xfrm>
          <a:prstGeom prst="rect">
            <a:avLst/>
          </a:prstGeom>
          <a:solidFill>
            <a:srgbClr val="442EE0"/>
          </a:solidFill>
          <a:ln/>
        </p:spPr>
      </p:sp>
      <p:sp>
        <p:nvSpPr>
          <p:cNvPr id="19" name="Text 17"/>
          <p:cNvSpPr/>
          <p:nvPr/>
        </p:nvSpPr>
        <p:spPr>
          <a:xfrm>
            <a:off x="6636028" y="1790077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AEB IN ACTION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6028" y="2567317"/>
            <a:ext cx="5303520" cy="1600200"/>
          </a:xfrm>
          <a:prstGeom prst="rect">
            <a:avLst/>
          </a:prstGeom>
          <a:solidFill>
            <a:srgbClr val="1A0A30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746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750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3" name="Shape 21"/>
          <p:cNvSpPr/>
          <p:nvPr/>
        </p:nvSpPr>
        <p:spPr>
          <a:xfrm>
            <a:off x="736754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4" name="Shape 22"/>
          <p:cNvSpPr/>
          <p:nvPr/>
        </p:nvSpPr>
        <p:spPr>
          <a:xfrm>
            <a:off x="768758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5" name="Shape 23"/>
          <p:cNvSpPr/>
          <p:nvPr/>
        </p:nvSpPr>
        <p:spPr>
          <a:xfrm>
            <a:off x="800762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6" name="Shape 24"/>
          <p:cNvSpPr/>
          <p:nvPr/>
        </p:nvSpPr>
        <p:spPr>
          <a:xfrm>
            <a:off x="832766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7" name="Shape 25"/>
          <p:cNvSpPr/>
          <p:nvPr/>
        </p:nvSpPr>
        <p:spPr>
          <a:xfrm>
            <a:off x="864770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8" name="Shape 26"/>
          <p:cNvSpPr/>
          <p:nvPr/>
        </p:nvSpPr>
        <p:spPr>
          <a:xfrm>
            <a:off x="896774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9" name="Shape 27"/>
          <p:cNvSpPr/>
          <p:nvPr/>
        </p:nvSpPr>
        <p:spPr>
          <a:xfrm>
            <a:off x="928778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0" name="Shape 28"/>
          <p:cNvSpPr/>
          <p:nvPr/>
        </p:nvSpPr>
        <p:spPr>
          <a:xfrm>
            <a:off x="960782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1" name="Shape 29"/>
          <p:cNvSpPr/>
          <p:nvPr/>
        </p:nvSpPr>
        <p:spPr>
          <a:xfrm>
            <a:off x="992786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2" name="Shape 30"/>
          <p:cNvSpPr/>
          <p:nvPr/>
        </p:nvSpPr>
        <p:spPr>
          <a:xfrm>
            <a:off x="1024790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3" name="Shape 31"/>
          <p:cNvSpPr/>
          <p:nvPr/>
        </p:nvSpPr>
        <p:spPr>
          <a:xfrm>
            <a:off x="1056794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4" name="Shape 32"/>
          <p:cNvSpPr/>
          <p:nvPr/>
        </p:nvSpPr>
        <p:spPr>
          <a:xfrm>
            <a:off x="1088798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5" name="Shape 33"/>
          <p:cNvSpPr/>
          <p:nvPr/>
        </p:nvSpPr>
        <p:spPr>
          <a:xfrm>
            <a:off x="1120802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2806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7" name="Shape 35"/>
          <p:cNvSpPr/>
          <p:nvPr/>
        </p:nvSpPr>
        <p:spPr>
          <a:xfrm>
            <a:off x="672746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8" name="Shape 36"/>
          <p:cNvSpPr/>
          <p:nvPr/>
        </p:nvSpPr>
        <p:spPr>
          <a:xfrm>
            <a:off x="704750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9" name="Shape 37"/>
          <p:cNvSpPr/>
          <p:nvPr/>
        </p:nvSpPr>
        <p:spPr>
          <a:xfrm>
            <a:off x="736754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0" name="Shape 38"/>
          <p:cNvSpPr/>
          <p:nvPr/>
        </p:nvSpPr>
        <p:spPr>
          <a:xfrm>
            <a:off x="768758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1" name="Shape 39"/>
          <p:cNvSpPr/>
          <p:nvPr/>
        </p:nvSpPr>
        <p:spPr>
          <a:xfrm>
            <a:off x="800762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2" name="Shape 40"/>
          <p:cNvSpPr/>
          <p:nvPr/>
        </p:nvSpPr>
        <p:spPr>
          <a:xfrm>
            <a:off x="832766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3" name="Shape 41"/>
          <p:cNvSpPr/>
          <p:nvPr/>
        </p:nvSpPr>
        <p:spPr>
          <a:xfrm>
            <a:off x="864770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4" name="Shape 42"/>
          <p:cNvSpPr/>
          <p:nvPr/>
        </p:nvSpPr>
        <p:spPr>
          <a:xfrm>
            <a:off x="896774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5" name="Shape 43"/>
          <p:cNvSpPr/>
          <p:nvPr/>
        </p:nvSpPr>
        <p:spPr>
          <a:xfrm>
            <a:off x="928778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6" name="Shape 44"/>
          <p:cNvSpPr/>
          <p:nvPr/>
        </p:nvSpPr>
        <p:spPr>
          <a:xfrm>
            <a:off x="960782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7" name="Shape 45"/>
          <p:cNvSpPr/>
          <p:nvPr/>
        </p:nvSpPr>
        <p:spPr>
          <a:xfrm>
            <a:off x="992786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8" name="Shape 46"/>
          <p:cNvSpPr/>
          <p:nvPr/>
        </p:nvSpPr>
        <p:spPr>
          <a:xfrm>
            <a:off x="1024790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9" name="Shape 47"/>
          <p:cNvSpPr/>
          <p:nvPr/>
        </p:nvSpPr>
        <p:spPr>
          <a:xfrm>
            <a:off x="1056794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50" name="Shape 48"/>
          <p:cNvSpPr/>
          <p:nvPr/>
        </p:nvSpPr>
        <p:spPr>
          <a:xfrm>
            <a:off x="1088798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51" name="Shape 49"/>
          <p:cNvSpPr/>
          <p:nvPr/>
        </p:nvSpPr>
        <p:spPr>
          <a:xfrm>
            <a:off x="1120802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52" name="Shape 50"/>
          <p:cNvSpPr/>
          <p:nvPr/>
        </p:nvSpPr>
        <p:spPr>
          <a:xfrm>
            <a:off x="1152806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53" name="Shape 51"/>
          <p:cNvSpPr/>
          <p:nvPr/>
        </p:nvSpPr>
        <p:spPr>
          <a:xfrm>
            <a:off x="6864628" y="3271405"/>
            <a:ext cx="960120" cy="411480"/>
          </a:xfrm>
          <a:prstGeom prst="rect">
            <a:avLst/>
          </a:prstGeom>
          <a:solidFill>
            <a:srgbClr val="442EE0"/>
          </a:solidFill>
          <a:ln/>
        </p:spPr>
      </p:sp>
      <p:sp>
        <p:nvSpPr>
          <p:cNvPr id="54" name="Shape 52"/>
          <p:cNvSpPr/>
          <p:nvPr/>
        </p:nvSpPr>
        <p:spPr>
          <a:xfrm>
            <a:off x="6956068" y="3307981"/>
            <a:ext cx="502920" cy="256032"/>
          </a:xfrm>
          <a:prstGeom prst="rect">
            <a:avLst/>
          </a:prstGeom>
          <a:solidFill>
            <a:srgbClr val="5A4AF0"/>
          </a:solidFill>
          <a:ln/>
        </p:spPr>
      </p:sp>
      <p:sp>
        <p:nvSpPr>
          <p:cNvPr id="55" name="Shape 53"/>
          <p:cNvSpPr/>
          <p:nvPr/>
        </p:nvSpPr>
        <p:spPr>
          <a:xfrm>
            <a:off x="6910348" y="3234829"/>
            <a:ext cx="182880" cy="73152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56" name="Shape 54"/>
          <p:cNvSpPr/>
          <p:nvPr/>
        </p:nvSpPr>
        <p:spPr>
          <a:xfrm>
            <a:off x="7596148" y="3234829"/>
            <a:ext cx="182880" cy="73152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57" name="Shape 55"/>
          <p:cNvSpPr/>
          <p:nvPr/>
        </p:nvSpPr>
        <p:spPr>
          <a:xfrm>
            <a:off x="6910348" y="3628021"/>
            <a:ext cx="182880" cy="73152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58" name="Shape 56"/>
          <p:cNvSpPr/>
          <p:nvPr/>
        </p:nvSpPr>
        <p:spPr>
          <a:xfrm>
            <a:off x="7596148" y="3628021"/>
            <a:ext cx="182880" cy="73152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59" name="Text 57"/>
          <p:cNvSpPr/>
          <p:nvPr/>
        </p:nvSpPr>
        <p:spPr>
          <a:xfrm>
            <a:off x="6910348" y="3088525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42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EGO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64628" y="2887357"/>
            <a:ext cx="1371600" cy="438912"/>
          </a:xfrm>
          <a:prstGeom prst="triangle">
            <a:avLst/>
          </a:prstGeom>
          <a:solidFill>
            <a:srgbClr val="1EEF97">
              <a:alpha val="1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956068" y="2750197"/>
            <a:ext cx="1005840" cy="576072"/>
          </a:xfrm>
          <a:prstGeom prst="triangle">
            <a:avLst/>
          </a:prstGeom>
          <a:solidFill>
            <a:srgbClr val="1EEF97">
              <a:alpha val="2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065796" y="2567317"/>
            <a:ext cx="640080" cy="758952"/>
          </a:xfrm>
          <a:prstGeom prst="triangle">
            <a:avLst/>
          </a:prstGeom>
          <a:solidFill>
            <a:srgbClr val="1EEF97">
              <a:alpha val="4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67748" y="3271405"/>
            <a:ext cx="594360" cy="347472"/>
          </a:xfrm>
          <a:prstGeom prst="rect">
            <a:avLst/>
          </a:prstGeom>
          <a:solidFill>
            <a:srgbClr val="EE4C40"/>
          </a:solidFill>
          <a:ln/>
        </p:spPr>
      </p:sp>
      <p:sp>
        <p:nvSpPr>
          <p:cNvPr id="64" name="Shape 62"/>
          <p:cNvSpPr/>
          <p:nvPr/>
        </p:nvSpPr>
        <p:spPr>
          <a:xfrm>
            <a:off x="9013468" y="3298837"/>
            <a:ext cx="320040" cy="201168"/>
          </a:xfrm>
          <a:prstGeom prst="rect">
            <a:avLst/>
          </a:prstGeom>
          <a:solidFill>
            <a:srgbClr val="EE7066"/>
          </a:solidFill>
          <a:ln/>
        </p:spPr>
      </p:sp>
      <p:sp>
        <p:nvSpPr>
          <p:cNvPr id="65" name="Shape 63"/>
          <p:cNvSpPr/>
          <p:nvPr/>
        </p:nvSpPr>
        <p:spPr>
          <a:xfrm>
            <a:off x="8995180" y="3234829"/>
            <a:ext cx="118872" cy="54864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66" name="Shape 64"/>
          <p:cNvSpPr/>
          <p:nvPr/>
        </p:nvSpPr>
        <p:spPr>
          <a:xfrm>
            <a:off x="9424948" y="3234829"/>
            <a:ext cx="118872" cy="54864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67" name="Shape 65"/>
          <p:cNvSpPr/>
          <p:nvPr/>
        </p:nvSpPr>
        <p:spPr>
          <a:xfrm>
            <a:off x="8995180" y="3564013"/>
            <a:ext cx="118872" cy="54864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68" name="Shape 66"/>
          <p:cNvSpPr/>
          <p:nvPr/>
        </p:nvSpPr>
        <p:spPr>
          <a:xfrm>
            <a:off x="9424948" y="3564013"/>
            <a:ext cx="118872" cy="54864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69" name="Text 67"/>
          <p:cNvSpPr/>
          <p:nvPr/>
        </p:nvSpPr>
        <p:spPr>
          <a:xfrm>
            <a:off x="8830588" y="3070237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E4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843036" y="3472573"/>
            <a:ext cx="1097280" cy="0"/>
          </a:xfrm>
          <a:prstGeom prst="line">
            <a:avLst/>
          </a:prstGeom>
          <a:noFill/>
          <a:ln w="19050">
            <a:solidFill>
              <a:srgbClr val="FEF04A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 rot="5400000">
            <a:off x="8876308" y="3445141"/>
            <a:ext cx="91440" cy="54864"/>
          </a:xfrm>
          <a:prstGeom prst="triangle">
            <a:avLst/>
          </a:prstGeom>
          <a:solidFill>
            <a:srgbClr val="FEF04A"/>
          </a:solidFill>
          <a:ln/>
        </p:spPr>
      </p:sp>
      <p:sp>
        <p:nvSpPr>
          <p:cNvPr id="72" name="Text 70"/>
          <p:cNvSpPr/>
          <p:nvPr/>
        </p:nvSpPr>
        <p:spPr>
          <a:xfrm>
            <a:off x="7897900" y="3344557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FEF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&lt; threshold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8144788" y="2997085"/>
            <a:ext cx="201168" cy="182880"/>
          </a:xfrm>
          <a:prstGeom prst="triangle">
            <a:avLst/>
          </a:prstGeom>
          <a:solidFill>
            <a:srgbClr val="FEF04A"/>
          </a:solidFill>
          <a:ln/>
        </p:spPr>
      </p:sp>
      <p:sp>
        <p:nvSpPr>
          <p:cNvPr id="74" name="Text 72"/>
          <p:cNvSpPr/>
          <p:nvPr/>
        </p:nvSpPr>
        <p:spPr>
          <a:xfrm>
            <a:off x="8144788" y="2997085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0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 rot="10800000">
            <a:off x="6910348" y="3847477"/>
            <a:ext cx="146304" cy="128016"/>
          </a:xfrm>
          <a:prstGeom prst="triangle">
            <a:avLst/>
          </a:prstGeom>
          <a:solidFill>
            <a:srgbClr val="EE4C40"/>
          </a:solidFill>
          <a:ln/>
        </p:spPr>
      </p:sp>
      <p:sp>
        <p:nvSpPr>
          <p:cNvPr id="76" name="Shape 74"/>
          <p:cNvSpPr/>
          <p:nvPr/>
        </p:nvSpPr>
        <p:spPr>
          <a:xfrm rot="10800000">
            <a:off x="7111516" y="3847477"/>
            <a:ext cx="146304" cy="128016"/>
          </a:xfrm>
          <a:prstGeom prst="triangle">
            <a:avLst/>
          </a:prstGeom>
          <a:solidFill>
            <a:srgbClr val="EE4C40"/>
          </a:solidFill>
          <a:ln/>
        </p:spPr>
      </p:sp>
      <p:sp>
        <p:nvSpPr>
          <p:cNvPr id="77" name="Shape 75"/>
          <p:cNvSpPr/>
          <p:nvPr/>
        </p:nvSpPr>
        <p:spPr>
          <a:xfrm rot="10800000">
            <a:off x="7312684" y="3847477"/>
            <a:ext cx="146304" cy="128016"/>
          </a:xfrm>
          <a:prstGeom prst="triangle">
            <a:avLst/>
          </a:prstGeom>
          <a:solidFill>
            <a:srgbClr val="EE4C40"/>
          </a:solidFill>
          <a:ln/>
        </p:spPr>
      </p:sp>
      <p:sp>
        <p:nvSpPr>
          <p:cNvPr id="78" name="Text 76"/>
          <p:cNvSpPr/>
          <p:nvPr/>
        </p:nvSpPr>
        <p:spPr>
          <a:xfrm>
            <a:off x="6910348" y="3975493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E4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6773188" y="2722765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6864628" y="3179965"/>
            <a:ext cx="64008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8007628" y="4030357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risk detected → Autonomous braking engaged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6636028" y="4350397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6636028" y="4606429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Reduces rear-end collisions by up to 50% (Euro NCAP)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636028" y="4880749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Operates at city &amp; highway speeds (5–250 km/h)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636028" y="5155069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Detects vehicles, pedestrians, cyclists &amp; static obstacles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636028" y="5429389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Mandatory for all new vehicles in EU since 2024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526774" y="5875616"/>
            <a:ext cx="11064240" cy="10973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88" name="Text 86"/>
          <p:cNvSpPr/>
          <p:nvPr/>
        </p:nvSpPr>
        <p:spPr>
          <a:xfrm>
            <a:off x="526774" y="59670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-50%</a:t>
            </a:r>
            <a:endParaRPr lang="en-US" sz="2000" dirty="0"/>
          </a:p>
        </p:txBody>
      </p:sp>
      <p:sp>
        <p:nvSpPr>
          <p:cNvPr id="89" name="Text 87"/>
          <p:cNvSpPr/>
          <p:nvPr/>
        </p:nvSpPr>
        <p:spPr>
          <a:xfrm>
            <a:off x="526774" y="621394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Reduction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3292834" y="59670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0.5s</a:t>
            </a:r>
            <a:endParaRPr lang="en-US" sz="2000" dirty="0"/>
          </a:p>
        </p:txBody>
      </p:sp>
      <p:sp>
        <p:nvSpPr>
          <p:cNvPr id="91" name="Text 89"/>
          <p:cNvSpPr/>
          <p:nvPr/>
        </p:nvSpPr>
        <p:spPr>
          <a:xfrm>
            <a:off x="3292834" y="621394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Response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6357863" y="59447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5-250 km/h</a:t>
            </a:r>
            <a:endParaRPr lang="en-US" sz="2000" dirty="0"/>
          </a:p>
        </p:txBody>
      </p:sp>
      <p:sp>
        <p:nvSpPr>
          <p:cNvPr id="93" name="Text 91"/>
          <p:cNvSpPr/>
          <p:nvPr/>
        </p:nvSpPr>
        <p:spPr>
          <a:xfrm>
            <a:off x="6357863" y="61916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Range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9123923" y="59447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2024+</a:t>
            </a:r>
            <a:endParaRPr lang="en-US" sz="2000" dirty="0"/>
          </a:p>
        </p:txBody>
      </p:sp>
      <p:sp>
        <p:nvSpPr>
          <p:cNvPr id="95" name="Text 93"/>
          <p:cNvSpPr/>
          <p:nvPr/>
        </p:nvSpPr>
        <p:spPr>
          <a:xfrm>
            <a:off x="9123923" y="61916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Mandatory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526774" y="6332816"/>
            <a:ext cx="45720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/ CONFIDENTIAL  |  CSD class: 2.5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D0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42EE0"/>
          </a:solidFill>
          <a:ln/>
        </p:spPr>
      </p:sp>
      <p:sp>
        <p:nvSpPr>
          <p:cNvPr id="3" name="LeftBar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42EE0"/>
          </a:solidFill>
          <a:ln/>
        </p:spPr>
      </p:sp>
      <p:sp>
        <p:nvSpPr>
          <p:cNvPr id="4" name="GreenDot"/>
          <p:cNvSpPr/>
          <p:nvPr/>
        </p:nvSpPr>
        <p:spPr>
          <a:xfrm>
            <a:off x="548640" y="411480"/>
            <a:ext cx="228600" cy="228600"/>
          </a:xfrm>
          <a:prstGeom prst="ellipse">
            <a:avLst/>
          </a:prstGeom>
          <a:solidFill>
            <a:srgbClr val="1EEF97"/>
          </a:solidFill>
          <a:ln/>
        </p:spPr>
      </p:sp>
      <p:sp>
        <p:nvSpPr>
          <p:cNvPr id="5" name="CARIAD"/>
          <p:cNvSpPr/>
          <p:nvPr/>
        </p:nvSpPr>
        <p:spPr>
          <a:xfrm>
            <a:off x="868680" y="3840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DCDD2"/>
                </a:solidFill>
                <a:latin typeface="Arial" pitchFamily="34" charset="0"/>
                <a:ea typeface="Arial" pitchFamily="34" charset="-122"/>
              </a:rPr>
              <a:t>C A R I A D</a:t>
            </a:r>
          </a:p>
        </p:txBody>
      </p:sp>
      <p:sp>
        <p:nvSpPr>
          <p:cNvPr id="6" name="MainTitle"/>
          <p:cNvSpPr/>
          <p:nvPr/>
        </p:nvSpPr>
        <p:spPr>
          <a:xfrm>
            <a:off x="526774" y="700000"/>
            <a:ext cx="109728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</a:rPr>
              <a:t>C-NCAP 2027 </a:t>
            </a:r>
            <a:r>
              <a:rPr lang="en-US" sz="36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</a:rPr>
              <a:t>AEB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</a:rPr>
              <a:t> 测试场景总览</a:t>
            </a:r>
          </a:p>
        </p:txBody>
      </p:sp>
      <p:sp>
        <p:nvSpPr>
          <p:cNvPr id="7" name="Underline"/>
          <p:cNvSpPr/>
          <p:nvPr/>
        </p:nvSpPr>
        <p:spPr>
          <a:xfrm>
            <a:off x="526774" y="1400000"/>
            <a:ext cx="2743200" cy="45720"/>
          </a:xfrm>
          <a:prstGeom prst="rect">
            <a:avLst/>
          </a:prstGeom>
          <a:solidFill>
            <a:srgbClr val="1EEF97"/>
          </a:solidFill>
          <a:ln/>
        </p:spPr>
      </p:sp>
      <p:sp>
        <p:nvSpPr>
          <p:cNvPr id="8" name="Subtitle"/>
          <p:cNvSpPr/>
          <p:nvPr/>
        </p:nvSpPr>
        <p:spPr>
          <a:xfrm>
            <a:off x="526774" y="1500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zh-CN" sz="16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AEB / FCW / AES | 车对弱势道路使用者 + 车对车 | 基础 + 拓展场景</a:t>
            </a:r>
          </a:p>
        </p:txBody>
      </p:sp>
      <p:sp>
        <p:nvSpPr>
          <p:cNvPr id="9" name="VLine"/>
          <p:cNvSpPr/>
          <p:nvPr/>
        </p:nvSpPr>
        <p:spPr>
          <a:xfrm>
            <a:off x="6131451" y="2050000"/>
            <a:ext cx="45719" cy="3600000"/>
          </a:xfrm>
          <a:prstGeom prst="rect">
            <a:avLst/>
          </a:prstGeom>
          <a:solidFill>
            <a:srgbClr val="442EE0"/>
          </a:solidFill>
          <a:ln/>
        </p:spPr>
      </p:sp>
      <p:sp>
        <p:nvSpPr>
          <p:cNvPr id="10" name="LeftHeader"/>
          <p:cNvSpPr/>
          <p:nvPr/>
        </p:nvSpPr>
        <p:spPr>
          <a:xfrm>
            <a:off x="526774" y="2000000"/>
            <a:ext cx="510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</a:rPr>
              <a:t>附录P — VRU / 弱势道路使用者保护</a:t>
            </a:r>
          </a:p>
        </p:txBody>
      </p:sp>
      <p:sp>
        <p:nvSpPr>
          <p:cNvPr id="11" name="LeftList"/>
          <p:cNvSpPr/>
          <p:nvPr/>
        </p:nvSpPr>
        <p:spPr>
          <a:xfrm>
            <a:off x="526774" y="2350000"/>
            <a:ext cx="5100000" cy="38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zh-CN" sz="1100" b="1" dirty="0">
                <a:solidFill>
                  <a:srgbClr val="1EEF97"/>
                </a:solidFill>
                <a:latin typeface="Arial" pitchFamily="34" charset="0"/>
                <a:ea typeface="Microsoft YaHei" pitchFamily="34" charset="-122"/>
              </a:rPr>
              <a:t>车对行人 (6项基础 · 权重70%)</a:t>
            </a:r>
          </a:p>
          <a:p>
            <a:pPr marL="171450" indent="0" algn="l">
              <a:buNone/>
            </a:pPr>
            <a:r>
              <a:rPr lang="zh-CN" sz="10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CPLA 纵向冲突 / CPFA 远端横穿 / CPNYC 幼儿近端横穿 / CPTA-LF 左转横穿 / CPTA-RF 右转横穿 / CPYCL 幼儿低速</a:t>
            </a:r>
          </a:p>
          <a:p>
            <a:pPr marL="0" indent="0" algn="l">
              <a:buNone/>
            </a:pPr>
            <a:endParaRPr lang="zh-CN" sz="600" dirty="0"/>
          </a:p>
          <a:p>
            <a:pPr marL="0" indent="0" algn="l">
              <a:buNone/>
            </a:pPr>
            <a:r>
              <a:rPr lang="zh-CN" sz="1100" b="1" dirty="0">
                <a:solidFill>
                  <a:srgbClr val="442EE0"/>
                </a:solidFill>
                <a:latin typeface="Arial" pitchFamily="34" charset="0"/>
                <a:ea typeface="Microsoft YaHei" pitchFamily="34" charset="-122"/>
              </a:rPr>
              <a:t>车对行人·拓展 (6项 · 权重30%)</a:t>
            </a:r>
          </a:p>
          <a:p>
            <a:pPr marL="171450" indent="0" algn="l">
              <a:buNone/>
            </a:pPr>
            <a:r>
              <a:rPr lang="zh-CN" sz="10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CPFAr 雨天远端横穿 / CPFC-MO 动态遮挡儿童 / CPNC-AI 行人干扰儿童 / CPFC-BI 二轮车干扰儿童 / CPFAh 高速远端横穿 / CPLAh 高速纵向</a:t>
            </a:r>
          </a:p>
          <a:p>
            <a:pPr marL="0" indent="0" algn="l">
              <a:buNone/>
            </a:pPr>
            <a:endParaRPr lang="zh-CN" sz="600" dirty="0"/>
          </a:p>
          <a:p>
            <a:pPr marL="0" indent="0" algn="l">
              <a:buNone/>
            </a:pPr>
            <a:r>
              <a:rPr lang="zh-CN" sz="1100" b="1" dirty="0">
                <a:solidFill>
                  <a:srgbClr val="1EEF97"/>
                </a:solidFill>
                <a:latin typeface="Arial" pitchFamily="34" charset="0"/>
                <a:ea typeface="Microsoft YaHei" pitchFamily="34" charset="-122"/>
              </a:rPr>
              <a:t>车对二轮车 (6项基础 · 权重70%)</a:t>
            </a:r>
          </a:p>
          <a:p>
            <a:pPr marL="171450" indent="0" algn="l">
              <a:buNone/>
            </a:pPr>
            <a:r>
              <a:rPr lang="zh-CN" sz="10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CBLAb 电动自行车纵向(夜) / CBOA 电动自行车斜向 / CBNA 自行车近端横穿 / CSFA 踏板摩托远端横穿 / CSTA-LN 左转踏板摩托 / CSTA-RN 右转踏板摩托</a:t>
            </a:r>
          </a:p>
          <a:p>
            <a:pPr marL="0" indent="0" algn="l">
              <a:buNone/>
            </a:pPr>
            <a:endParaRPr lang="zh-CN" sz="600" dirty="0"/>
          </a:p>
          <a:p>
            <a:pPr marL="0" indent="0" algn="l">
              <a:buNone/>
            </a:pPr>
            <a:r>
              <a:rPr lang="zh-CN" sz="1100" b="1" dirty="0">
                <a:solidFill>
                  <a:srgbClr val="442EE0"/>
                </a:solidFill>
                <a:latin typeface="Arial" pitchFamily="34" charset="0"/>
                <a:ea typeface="Microsoft YaHei" pitchFamily="34" charset="-122"/>
              </a:rPr>
              <a:t>车对二轮车·拓展 (10项 · 权重30%)</a:t>
            </a:r>
          </a:p>
          <a:p>
            <a:pPr marL="171450" indent="0" algn="l">
              <a:buNone/>
            </a:pPr>
            <a:r>
              <a:rPr lang="zh-CN" sz="10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CBLAt 转弯切入 / CBLAc 变道切入 / CBOFA 斜穿遮挡 / CBNA-AI 行人干扰 / CSFA-BI 二轮车干扰 / CBFA-MO 动态遮挡 / CSTAO-RN 右转遮挡 / C2S RCPf 右转远端 / C2B RCPn 右转近端 / CSFhol 直行对向</a:t>
            </a:r>
          </a:p>
          <a:p>
            <a:pPr marL="0" indent="0" algn="l">
              <a:buNone/>
            </a:pPr>
            <a:endParaRPr lang="zh-CN" sz="600" dirty="0"/>
          </a:p>
          <a:p>
            <a:pPr marL="0" indent="0" algn="l">
              <a:buNone/>
            </a:pPr>
            <a:r>
              <a:rPr lang="zh-CN" sz="1100" b="1" dirty="0">
                <a:solidFill>
                  <a:srgbClr val="1EEF97"/>
                </a:solidFill>
                <a:latin typeface="Arial" pitchFamily="34" charset="0"/>
                <a:ea typeface="Microsoft YaHei" pitchFamily="34" charset="-122"/>
              </a:rPr>
              <a:t>车对三轮车 (3项基础)</a:t>
            </a:r>
          </a:p>
          <a:p>
            <a:pPr marL="171450" indent="0" algn="l">
              <a:buNone/>
            </a:pPr>
            <a:r>
              <a:rPr lang="zh-CN" sz="10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CTRc 切入追尾 / CTFA 横穿 / CTFT 转弯对撞</a:t>
            </a:r>
          </a:p>
          <a:p>
            <a:pPr marL="0" indent="0" algn="l">
              <a:buNone/>
            </a:pPr>
            <a:endParaRPr lang="zh-CN" sz="600" dirty="0"/>
          </a:p>
          <a:p>
            <a:pPr marL="0" indent="0" algn="l">
              <a:buNone/>
            </a:pPr>
            <a:r>
              <a:rPr lang="zh-CN" sz="1100" b="1" dirty="0">
                <a:solidFill>
                  <a:srgbClr val="442EE0"/>
                </a:solidFill>
                <a:latin typeface="Arial" pitchFamily="34" charset="0"/>
                <a:ea typeface="Microsoft YaHei" pitchFamily="34" charset="-122"/>
              </a:rPr>
              <a:t>功能覆盖</a:t>
            </a:r>
          </a:p>
          <a:p>
            <a:pPr marL="171450" indent="0" algn="l">
              <a:buNone/>
            </a:pPr>
            <a:r>
              <a:rPr lang="zh-CN" sz="10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AEB + FCW + AES (自动紧急转向/避让)</a:t>
            </a:r>
          </a:p>
          <a:p>
            <a:pPr marL="0" indent="0" algn="l">
              <a:buNone/>
            </a:pPr>
            <a:endParaRPr lang="zh-CN" sz="600" dirty="0"/>
          </a:p>
        </p:txBody>
      </p:sp>
      <p:sp>
        <p:nvSpPr>
          <p:cNvPr id="20" name="RightHeader"/>
          <p:cNvSpPr/>
          <p:nvPr/>
        </p:nvSpPr>
        <p:spPr>
          <a:xfrm>
            <a:off x="6636028" y="2000000"/>
            <a:ext cx="510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</a:rPr>
              <a:t>附录Q — C2C / 车对车 ADAS 测试</a:t>
            </a:r>
          </a:p>
        </p:txBody>
      </p:sp>
      <p:sp>
        <p:nvSpPr>
          <p:cNvPr id="21" name="RightList"/>
          <p:cNvSpPr/>
          <p:nvPr/>
        </p:nvSpPr>
        <p:spPr>
          <a:xfrm>
            <a:off x="6636028" y="2350000"/>
            <a:ext cx="5100000" cy="38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zh-CN" sz="1100" b="1" dirty="0">
                <a:solidFill>
                  <a:srgbClr val="1EEF97"/>
                </a:solidFill>
                <a:latin typeface="Arial" pitchFamily="34" charset="0"/>
                <a:ea typeface="Microsoft YaHei" pitchFamily="34" charset="-122"/>
              </a:rPr>
              <a:t>基础场景 (6项 · 必测)</a:t>
            </a:r>
          </a:p>
          <a:p>
            <a:pPr marL="171450" indent="0" algn="l">
              <a:buNone/>
            </a:pPr>
            <a:r>
              <a:rPr lang="zh-CN" sz="10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CCRc 切入追尾 / CCRh 高速追尾 / CCRb 制动追尾 / C2C SCPf 远端横穿 / CCFT 转弯对撞 / CCRbc 弯道制动</a:t>
            </a:r>
          </a:p>
          <a:p>
            <a:pPr marL="0" indent="0" algn="l">
              <a:buNone/>
            </a:pPr>
            <a:endParaRPr lang="zh-CN" sz="600" dirty="0"/>
          </a:p>
          <a:p>
            <a:pPr marL="0" indent="0" algn="l">
              <a:buNone/>
            </a:pPr>
            <a:r>
              <a:rPr lang="zh-CN" sz="1100" b="1" dirty="0">
                <a:solidFill>
                  <a:srgbClr val="442EE0"/>
                </a:solidFill>
                <a:latin typeface="Arial" pitchFamily="34" charset="0"/>
                <a:ea typeface="Microsoft YaHei" pitchFamily="34" charset="-122"/>
              </a:rPr>
              <a:t>拓展场景 (10项 · 抽测验证)</a:t>
            </a:r>
          </a:p>
          <a:p>
            <a:pPr marL="171450" indent="0" algn="l">
              <a:buNone/>
            </a:pPr>
            <a:r>
              <a:rPr lang="zh-CN" sz="10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CCRsr 雨天追尾 / CCRsf 雾天追尾 / CCFhos 直行对撞 / C2C SCPn 近端横穿 / SCPmo 动态遮挡横穿 / CCFTf 跟车转弯对撞 / LCPf/LCPn 左转横穿 / RCPf 右转横穿 / SCPso 静态遮挡横穿</a:t>
            </a:r>
          </a:p>
          <a:p>
            <a:pPr marL="0" indent="0" algn="l">
              <a:buNone/>
            </a:pPr>
            <a:endParaRPr lang="zh-CN" sz="600" dirty="0"/>
          </a:p>
          <a:p>
            <a:pPr marL="0" indent="0" algn="l">
              <a:buNone/>
            </a:pPr>
            <a:r>
              <a:rPr lang="zh-CN" sz="1100" b="1" dirty="0">
                <a:solidFill>
                  <a:srgbClr val="442EE0"/>
                </a:solidFill>
                <a:latin typeface="Arial" pitchFamily="34" charset="0"/>
                <a:ea typeface="Microsoft YaHei" pitchFamily="34" charset="-122"/>
              </a:rPr>
              <a:t>测试速度范围</a:t>
            </a:r>
          </a:p>
          <a:p>
            <a:pPr marL="171450" indent="0" algn="l">
              <a:buNone/>
            </a:pPr>
            <a:r>
              <a:rPr lang="zh-CN" sz="10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基础: 40–120 km/h | 拓展: 30–120 km/h</a:t>
            </a:r>
          </a:p>
          <a:p>
            <a:pPr marL="0" indent="0" algn="l">
              <a:buNone/>
            </a:pPr>
            <a:endParaRPr lang="zh-CN" sz="600" dirty="0"/>
          </a:p>
          <a:p>
            <a:pPr marL="0" indent="0" algn="l">
              <a:buNone/>
            </a:pPr>
            <a:r>
              <a:rPr lang="zh-CN" sz="1100" b="1" dirty="0">
                <a:solidFill>
                  <a:srgbClr val="442EE0"/>
                </a:solidFill>
                <a:latin typeface="Arial" pitchFamily="34" charset="0"/>
                <a:ea typeface="Microsoft YaHei" pitchFamily="34" charset="-122"/>
              </a:rPr>
              <a:t>功能覆盖</a:t>
            </a:r>
          </a:p>
          <a:p>
            <a:pPr marL="171450" indent="0" algn="l">
              <a:buNone/>
            </a:pPr>
            <a:r>
              <a:rPr lang="zh-CN" sz="10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AEB + FCW + AES + LKA + ELK + DMS + BSD + DOW + RCTB + ISLS + AMAP</a:t>
            </a:r>
          </a:p>
          <a:p>
            <a:pPr marL="0" indent="0" algn="l">
              <a:buNone/>
            </a:pPr>
            <a:endParaRPr lang="zh-CN" sz="600" dirty="0"/>
          </a:p>
        </p:txBody>
      </p:sp>
      <p:sp>
        <p:nvSpPr>
          <p:cNvPr id="90" name="BtmLine"/>
          <p:cNvSpPr/>
          <p:nvPr/>
        </p:nvSpPr>
        <p:spPr>
          <a:xfrm>
            <a:off x="526774" y="5875616"/>
            <a:ext cx="11064240" cy="10973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91" name="Stat1"/>
          <p:cNvSpPr/>
          <p:nvPr/>
        </p:nvSpPr>
        <p:spPr>
          <a:xfrm>
            <a:off x="526774" y="59670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</a:rPr>
              <a:t>6+10</a:t>
            </a:r>
          </a:p>
        </p:txBody>
      </p:sp>
      <p:sp>
        <p:nvSpPr>
          <p:cNvPr id="92" name="Stat1Label"/>
          <p:cNvSpPr/>
          <p:nvPr/>
        </p:nvSpPr>
        <p:spPr>
          <a:xfrm>
            <a:off x="526774" y="621394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</a:rPr>
              <a:t>车对车测试场景 (必测+抽测)</a:t>
            </a:r>
          </a:p>
        </p:txBody>
      </p:sp>
      <p:sp>
        <p:nvSpPr>
          <p:cNvPr id="93" name="Stat2"/>
          <p:cNvSpPr/>
          <p:nvPr/>
        </p:nvSpPr>
        <p:spPr>
          <a:xfrm>
            <a:off x="3292834" y="59670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</a:rPr>
              <a:t>31</a:t>
            </a:r>
          </a:p>
        </p:txBody>
      </p:sp>
      <p:sp>
        <p:nvSpPr>
          <p:cNvPr id="94" name="Stat2Label"/>
          <p:cNvSpPr/>
          <p:nvPr/>
        </p:nvSpPr>
        <p:spPr>
          <a:xfrm>
            <a:off x="3292834" y="621394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</a:rPr>
              <a:t>VRU 测试场景 (行/二轮/三轮)</a:t>
            </a:r>
          </a:p>
        </p:txBody>
      </p:sp>
      <p:sp>
        <p:nvSpPr>
          <p:cNvPr id="95" name="Stat3"/>
          <p:cNvSpPr/>
          <p:nvPr/>
        </p:nvSpPr>
        <p:spPr>
          <a:xfrm>
            <a:off x="6357863" y="59670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</a:rPr>
              <a:t>0–120 km/h</a:t>
            </a:r>
          </a:p>
        </p:txBody>
      </p:sp>
      <p:sp>
        <p:nvSpPr>
          <p:cNvPr id="96" name="Stat3Label"/>
          <p:cNvSpPr/>
          <p:nvPr/>
        </p:nvSpPr>
        <p:spPr>
          <a:xfrm>
            <a:off x="6357863" y="61916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</a:rPr>
              <a:t>测试速度范围</a:t>
            </a:r>
          </a:p>
        </p:txBody>
      </p:sp>
      <p:sp>
        <p:nvSpPr>
          <p:cNvPr id="97" name="Stat4"/>
          <p:cNvSpPr/>
          <p:nvPr/>
        </p:nvSpPr>
        <p:spPr>
          <a:xfrm>
            <a:off x="9123923" y="59670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</a:rPr>
              <a:t>2027</a:t>
            </a:r>
          </a:p>
        </p:txBody>
      </p:sp>
      <p:sp>
        <p:nvSpPr>
          <p:cNvPr id="98" name="Stat4Label"/>
          <p:cNvSpPr/>
          <p:nvPr/>
        </p:nvSpPr>
        <p:spPr>
          <a:xfrm>
            <a:off x="9123923" y="61916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</a:rPr>
              <a:t>C-NCAP 版本</a:t>
            </a:r>
          </a:p>
        </p:txBody>
      </p:sp>
      <p:sp>
        <p:nvSpPr>
          <p:cNvPr id="99" name="Footer"/>
          <p:cNvSpPr/>
          <p:nvPr/>
        </p:nvSpPr>
        <p:spPr>
          <a:xfrm>
            <a:off x="526774" y="6450000"/>
            <a:ext cx="45720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</a:rPr>
              <a:t>INTERNAL / CONFIDENTIAL  |  CSD class: 2.5  |  Source: C-NCAP 2027 Management Rules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 - V2X in C-NCAP 2027">
    <p:bg>
      <p:bgPr>
        <a:solidFill>
          <a:srgbClr val="1D0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42EE0"/>
          </a:solidFill>
          <a:ln/>
        </p:spPr>
      </p:sp>
      <p:sp>
        <p:nvSpPr>
          <p:cNvPr id="3" name="LeftBar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42EE0"/>
          </a:solidFill>
          <a:ln/>
        </p:spPr>
      </p:sp>
      <p:sp>
        <p:nvSpPr>
          <p:cNvPr id="4" name="GreenDot"/>
          <p:cNvSpPr/>
          <p:nvPr/>
        </p:nvSpPr>
        <p:spPr>
          <a:xfrm>
            <a:off x="548640" y="411480"/>
            <a:ext cx="228600" cy="228600"/>
          </a:xfrm>
          <a:prstGeom prst="ellipse">
            <a:avLst/>
          </a:prstGeom>
          <a:solidFill>
            <a:srgbClr val="1EEF97"/>
          </a:solidFill>
          <a:ln/>
        </p:spPr>
      </p:sp>
      <p:sp>
        <p:nvSpPr>
          <p:cNvPr id="5" name="CARIAD"/>
          <p:cNvSpPr/>
          <p:nvPr/>
        </p:nvSpPr>
        <p:spPr>
          <a:xfrm>
            <a:off x="868680" y="3840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DCDD2"/>
                </a:solidFill>
                <a:latin typeface="Arial" pitchFamily="34" charset="0"/>
                <a:ea typeface="Arial" pitchFamily="34" charset="-122"/>
              </a:rPr>
              <a:t>C A R I A D</a:t>
            </a:r>
          </a:p>
        </p:txBody>
      </p:sp>
      <p:sp>
        <p:nvSpPr>
          <p:cNvPr id="6" name="MainTitle"/>
          <p:cNvSpPr/>
          <p:nvPr/>
        </p:nvSpPr>
        <p:spPr>
          <a:xfrm>
            <a:off x="526774" y="700000"/>
            <a:ext cx="10972800" cy="700000"/>
          </a:xfrm>
          <a:prstGeom prst="rect">
            <a:avLst/>
          </a:prstGeom>
          <a:noFill/>
          <a:ln/>
        </p:spPr>
        <p:txBody>
          <a:p>
            <a:pPr marL="0" indent="0" algn="l">
              <a:buNone/>
            </a:pPr>
            <a:r>
              <a:rPr lang="zh-CN" sz="3200" b="1" dirty="0">
                <a:solidFill>
                  <a:srgbClr val="FFFFFF"/>
                </a:solidFill>
                <a:latin typeface="Arial" pitchFamily="34" charset="0"/>
                <a:ea typeface="Microsoft YaHei" pitchFamily="34" charset="-122"/>
              </a:rPr>
              <a:t>C-NCAP 2027 AEB 场景中的 </a:t>
            </a:r>
            <a:r>
              <a:rPr lang="zh-CN" sz="3200" b="1" dirty="0">
                <a:solidFill>
                  <a:srgbClr val="1EEF97"/>
                </a:solidFill>
                <a:latin typeface="Arial" pitchFamily="34" charset="0"/>
                <a:ea typeface="Microsoft YaHei" pitchFamily="34" charset="-122"/>
              </a:rPr>
              <a:t>V2X / C-V2X</a:t>
            </a:r>
            <a:r>
              <a:rPr lang="zh-CN" sz="3200" b="1" dirty="0">
                <a:solidFill>
                  <a:srgbClr val="FFFFFF"/>
                </a:solidFill>
                <a:latin typeface="Arial" pitchFamily="34" charset="0"/>
                <a:ea typeface="Microsoft YaHei" pitchFamily="34" charset="-122"/>
              </a:rPr>
              <a:t> 技术</a:t>
            </a:r>
          </a:p>
        </p:txBody>
      </p:sp>
      <p:sp>
        <p:nvSpPr>
          <p:cNvPr id="7" name="Underline"/>
          <p:cNvSpPr/>
          <p:nvPr/>
        </p:nvSpPr>
        <p:spPr>
          <a:xfrm>
            <a:off x="526774" y="1400000"/>
            <a:ext cx="2743200" cy="45720"/>
          </a:xfrm>
          <a:prstGeom prst="rect">
            <a:avLst/>
          </a:prstGeom>
          <a:solidFill>
            <a:srgbClr val="1EEF97"/>
          </a:solidFill>
          <a:ln/>
        </p:spPr>
      </p:sp>
      <p:sp>
        <p:nvSpPr>
          <p:cNvPr id="8" name="Subtitle"/>
          <p:cNvSpPr/>
          <p:nvPr/>
        </p:nvSpPr>
        <p:spPr>
          <a:xfrm>
            <a:off x="526774" y="1500000"/>
            <a:ext cx="10972800" cy="320040"/>
          </a:xfrm>
          <a:prstGeom prst="rect">
            <a:avLst/>
          </a:prstGeom>
          <a:noFill/>
          <a:ln/>
        </p:spPr>
        <p:txBody>
          <a:p>
            <a:pPr marL="0" indent="0" algn="l">
              <a:buNone/>
            </a:pPr>
            <a:r>
              <a:rPr lang="zh-CN" sz="1400" b="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基于C-NCAP 2027版管理规则原文 · 仅列出文档中明确提及V2X/C-V2X的测试场景</a:t>
            </a:r>
          </a:p>
        </p:txBody>
      </p:sp>
      <p:sp>
        <p:nvSpPr>
          <p:cNvPr id="9" name="VLine"/>
          <p:cNvSpPr/>
          <p:nvPr/>
        </p:nvSpPr>
        <p:spPr>
          <a:xfrm>
            <a:off x="6131451" y="2050000"/>
            <a:ext cx="45719" cy="3600000"/>
          </a:xfrm>
          <a:prstGeom prst="rect">
            <a:avLst/>
          </a:prstGeom>
          <a:solidFill>
            <a:srgbClr val="442EE0"/>
          </a:solidFill>
          <a:ln/>
        </p:spPr>
      </p:sp>
      <p:sp>
        <p:nvSpPr>
          <p:cNvPr id="10" name="LeftHeader"/>
          <p:cNvSpPr/>
          <p:nvPr/>
        </p:nvSpPr>
        <p:spPr>
          <a:xfrm>
            <a:off x="526774" y="2000000"/>
            <a:ext cx="5100000" cy="320040"/>
          </a:xfrm>
          <a:prstGeom prst="rect">
            <a:avLst/>
          </a:prstGeom>
          <a:noFill/>
          <a:ln/>
        </p:spPr>
        <p:txBody>
          <a:p>
            <a:pPr marL="0" indent="0" algn="l">
              <a:buNone/>
            </a:pPr>
            <a:r>
              <a:rPr lang="zh-CN" sz="1100" b="1" dirty="0">
                <a:solidFill>
                  <a:srgbClr val="1EEF97"/>
                </a:solidFill>
                <a:latin typeface="Arial" pitchFamily="34" charset="0"/>
                <a:ea typeface="Microsoft YaHei" pitchFamily="34" charset="-122"/>
              </a:rPr>
              <a:t>附录P — VRU保护 | V2X提及情况</a:t>
            </a:r>
          </a:p>
        </p:txBody>
      </p:sp>
      <p:sp>
        <p:nvSpPr>
          <p:cNvPr id="11" name="LeftList"/>
          <p:cNvSpPr/>
          <p:nvPr/>
        </p:nvSpPr>
        <p:spPr>
          <a:xfrm>
            <a:off x="526774" y="2350000"/>
            <a:ext cx="5100000" cy="3800000"/>
          </a:xfrm>
          <a:prstGeom prst="rect">
            <a:avLst/>
          </a:prstGeom>
          <a:noFill/>
          <a:ln/>
        </p:spPr>
        <p:txBody>
          <a:p>
            <a:pPr marL="0" indent="0" algn="l">
              <a:buNone/>
            </a:pPr>
            <a:r>
              <a:rPr lang="zh-CN" sz="950" b="1" dirty="0">
                <a:solidFill>
                  <a:srgbClr val="1EEF97"/>
                </a:solidFill>
                <a:latin typeface="Arial" pitchFamily="34" charset="0"/>
                <a:ea typeface="Microsoft YaHei" pitchFamily="34" charset="-122"/>
              </a:rPr>
              <a:t>附录P — VRU 弱势道路使用者保护</a:t>
            </a:r>
          </a:p>
          <a:p>
            <a:pPr marL="0" indent="0" algn="l">
              <a:buNone/>
            </a:pPr>
            <a:endParaRPr lang="zh-CN" sz="300" dirty="0"/>
          </a:p>
          <a:p>
            <a:pPr marL="171450" indent="0" algn="l">
              <a:buNone/>
            </a:pPr>
            <a:r>
              <a:rPr lang="zh-CN" sz="8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结论：附录P中未明确提及 V2X / C-V2X 技术</a:t>
            </a:r>
          </a:p>
          <a:p>
            <a:pPr marL="0" indent="0" algn="l">
              <a:buNone/>
            </a:pPr>
            <a:endParaRPr lang="zh-CN" sz="300" dirty="0"/>
          </a:p>
          <a:p>
            <a:pPr marL="171450" indent="0" algn="l">
              <a:buNone/>
            </a:pPr>
            <a:r>
              <a:rPr lang="zh-CN" sz="75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附录P的31个VRU场景均基于车载传感器（摄像头、雷达、</a:t>
            </a:r>
          </a:p>
          <a:p>
            <a:pPr marL="171450" indent="0" algn="l">
              <a:buNone/>
            </a:pPr>
            <a:r>
              <a:rPr lang="zh-CN" sz="75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激光雷达）进行感知。V2P（车与行人/二轮车通信）尚未</a:t>
            </a:r>
          </a:p>
          <a:p>
            <a:pPr marL="171450" indent="0" algn="l">
              <a:buNone/>
            </a:pPr>
            <a:r>
              <a:rPr lang="zh-CN" sz="75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纳入C-NCAP 2027的VRU测试评价规程。</a:t>
            </a:r>
          </a:p>
          <a:p>
            <a:pPr marL="0" indent="0" algn="l">
              <a:buNone/>
            </a:pPr>
            <a:endParaRPr lang="zh-CN" sz="300" dirty="0"/>
          </a:p>
          <a:p>
            <a:pPr marL="171450" indent="0" algn="l">
              <a:buNone/>
            </a:pPr>
            <a:r>
              <a:rPr lang="zh-CN" sz="75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这意味着：当前VRU保护测试仅评估单车智能的感知能力，</a:t>
            </a:r>
          </a:p>
          <a:p>
            <a:pPr marL="171450" indent="0" algn="l">
              <a:buNone/>
            </a:pPr>
            <a:r>
              <a:rPr lang="zh-CN" sz="75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V2X在弱势道路使用者保护领域的标准化测试尚属空白。</a:t>
            </a:r>
          </a:p>
        </p:txBody>
      </p:sp>
      <p:sp>
        <p:nvSpPr>
          <p:cNvPr id="20" name="RightHeader"/>
          <p:cNvSpPr/>
          <p:nvPr/>
        </p:nvSpPr>
        <p:spPr>
          <a:xfrm>
            <a:off x="6636028" y="2000000"/>
            <a:ext cx="5100000" cy="320040"/>
          </a:xfrm>
          <a:prstGeom prst="rect">
            <a:avLst/>
          </a:prstGeom>
          <a:noFill/>
          <a:ln/>
        </p:spPr>
        <p:txBody>
          <a:p>
            <a:pPr marL="0" indent="0" algn="l">
              <a:buNone/>
            </a:pPr>
            <a:r>
              <a:rPr lang="zh-CN" sz="1100" b="1" dirty="0">
                <a:solidFill>
                  <a:srgbClr val="1EEF97"/>
                </a:solidFill>
                <a:latin typeface="Arial" pitchFamily="34" charset="0"/>
                <a:ea typeface="Microsoft YaHei" pitchFamily="34" charset="-122"/>
              </a:rPr>
              <a:t>附录Q — C2C ADAS | 涉及 C-V2X 的场景（文档原文）</a:t>
            </a:r>
          </a:p>
        </p:txBody>
      </p:sp>
      <p:sp>
        <p:nvSpPr>
          <p:cNvPr id="21" name="RightList"/>
          <p:cNvSpPr/>
          <p:nvPr/>
        </p:nvSpPr>
        <p:spPr>
          <a:xfrm>
            <a:off x="6636028" y="2350000"/>
            <a:ext cx="5100000" cy="3800000"/>
          </a:xfrm>
          <a:prstGeom prst="rect">
            <a:avLst/>
          </a:prstGeom>
          <a:noFill/>
          <a:ln/>
        </p:spPr>
        <p:txBody>
          <a:p>
            <a:pPr marL="0" indent="0" algn="l">
              <a:buNone/>
            </a:pPr>
            <a:r>
              <a:rPr lang="zh-CN" sz="950" b="1" dirty="0">
                <a:solidFill>
                  <a:srgbClr val="1EEF97"/>
                </a:solidFill>
                <a:latin typeface="Arial" pitchFamily="34" charset="0"/>
                <a:ea typeface="Microsoft YaHei" pitchFamily="34" charset="-122"/>
              </a:rPr>
              <a:t>附录Q — C2C 车对车 ADAS · 涉及 V2X 的场景</a:t>
            </a:r>
          </a:p>
          <a:p>
            <a:pPr marL="0" indent="0" algn="l">
              <a:buNone/>
            </a:pPr>
            <a:endParaRPr lang="zh-CN" sz="300" dirty="0"/>
          </a:p>
          <a:p>
            <a:pPr marL="171450" indent="0" algn="l">
              <a:buNone/>
            </a:pPr>
            <a:r>
              <a:rPr lang="zh-CN" sz="850" b="1" dirty="0">
                <a:solidFill>
                  <a:srgbClr val="1EEF97"/>
                </a:solidFill>
                <a:latin typeface="Arial" pitchFamily="34" charset="0"/>
                <a:ea typeface="Microsoft YaHei" pitchFamily="34" charset="-122"/>
              </a:rPr>
              <a:t>GVT 目标车 · 可具备 C-V2X 直连通信能力</a:t>
            </a:r>
          </a:p>
          <a:p>
            <a:pPr marL="171450" indent="0" algn="l">
              <a:buNone/>
            </a:pPr>
            <a:r>
              <a:rPr lang="zh-CN" sz="7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附录Q规定GVT（全局车辆目标物）可集成C-V2X直连通信</a:t>
            </a:r>
          </a:p>
          <a:p>
            <a:pPr marL="171450" indent="0" algn="l">
              <a:buNone/>
            </a:pPr>
            <a:r>
              <a:rPr lang="zh-CN" sz="7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模块，并具备第三方电子认证机构认可的互信能力。（见</a:t>
            </a:r>
          </a:p>
          <a:p>
            <a:pPr marL="171450" indent="0" algn="l">
              <a:buNone/>
            </a:pPr>
            <a:r>
              <a:rPr lang="zh-CN" sz="7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Q.3.6.1.2.4章节，第13/20/25页）</a:t>
            </a:r>
          </a:p>
          <a:p>
            <a:pPr marL="0" indent="0" algn="l">
              <a:buNone/>
            </a:pPr>
            <a:endParaRPr lang="zh-CN" sz="300" dirty="0"/>
          </a:p>
          <a:p>
            <a:pPr marL="171450" indent="0" algn="l">
              <a:buNone/>
            </a:pPr>
            <a:r>
              <a:rPr lang="zh-CN" sz="850" b="1" dirty="0">
                <a:solidFill>
                  <a:srgbClr val="1EEF97"/>
                </a:solidFill>
                <a:latin typeface="Arial" pitchFamily="34" charset="0"/>
                <a:ea typeface="Microsoft YaHei" pitchFamily="34" charset="-122"/>
              </a:rPr>
              <a:t>当车辆具备 C-V2X 时，以下为必测场景：</a:t>
            </a:r>
          </a:p>
          <a:p>
            <a:pPr marL="0" indent="0" algn="l">
              <a:buNone/>
            </a:pPr>
            <a:endParaRPr lang="zh-CN" sz="300" dirty="0"/>
          </a:p>
          <a:p>
            <a:pPr marL="171450" indent="0" algn="l">
              <a:buNone/>
            </a:pPr>
            <a:r>
              <a:rPr lang="zh-CN" sz="800" b="1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① CCRh — 高速追尾</a:t>
            </a:r>
          </a:p>
          <a:p>
            <a:pPr marL="171450" indent="0" algn="l">
              <a:buNone/>
            </a:pPr>
            <a:r>
              <a:rPr lang="zh-CN" sz="7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远距离前车减速预警，V2V可增加感知距离，弥补传感器</a:t>
            </a:r>
          </a:p>
          <a:p>
            <a:pPr marL="171450" indent="0" algn="l">
              <a:buNone/>
            </a:pPr>
            <a:r>
              <a:rPr lang="zh-CN" sz="7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探测范围限制，实现超视距协同制动</a:t>
            </a:r>
          </a:p>
          <a:p>
            <a:pPr marL="0" indent="0" algn="l">
              <a:buNone/>
            </a:pPr>
            <a:endParaRPr lang="zh-CN" sz="300" dirty="0"/>
          </a:p>
          <a:p>
            <a:pPr marL="171450" indent="0" algn="l">
              <a:buNone/>
            </a:pPr>
            <a:r>
              <a:rPr lang="zh-CN" sz="800" b="1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② CCFhos — 直行对撞</a:t>
            </a:r>
          </a:p>
          <a:p>
            <a:pPr marL="171450" indent="0" algn="l">
              <a:buNone/>
            </a:pPr>
            <a:r>
              <a:rPr lang="zh-CN" sz="7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有遮挡的交叉路口对向碰撞场景，V2V穿透建筑物/车辆</a:t>
            </a:r>
          </a:p>
          <a:p>
            <a:pPr marL="171450" indent="0" algn="l">
              <a:buNone/>
            </a:pPr>
            <a:r>
              <a:rPr lang="zh-CN" sz="7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遮挡，提前获知对向来车位置与速度</a:t>
            </a:r>
          </a:p>
          <a:p>
            <a:pPr marL="0" indent="0" algn="l">
              <a:buNone/>
            </a:pPr>
            <a:endParaRPr lang="zh-CN" sz="300" dirty="0"/>
          </a:p>
          <a:p>
            <a:pPr marL="171450" indent="0" algn="l">
              <a:buNone/>
            </a:pPr>
            <a:r>
              <a:rPr lang="zh-CN" sz="800" b="1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③ C2C SCPso — 静态遮挡横穿</a:t>
            </a:r>
          </a:p>
          <a:p>
            <a:pPr marL="171450" indent="0" algn="l">
              <a:buNone/>
            </a:pPr>
            <a:r>
              <a:rPr lang="zh-CN" sz="7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目标车被路边停放车辆遮挡后横穿，V2V可越过静态障碍</a:t>
            </a:r>
          </a:p>
          <a:p>
            <a:pPr marL="171450" indent="0" algn="l">
              <a:buNone/>
            </a:pPr>
            <a:r>
              <a:rPr lang="zh-CN" sz="7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感知被遮挡移动车辆，解决非视距（NLOS）问题</a:t>
            </a:r>
          </a:p>
          <a:p>
            <a:pPr marL="0" indent="0" algn="l">
              <a:buNone/>
            </a:pPr>
            <a:endParaRPr lang="zh-CN" sz="300" dirty="0"/>
          </a:p>
          <a:p>
            <a:pPr marL="171450" indent="0" algn="l">
              <a:buNone/>
            </a:pPr>
            <a:r>
              <a:rPr lang="zh-CN" sz="7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上述场景不参与排序抽取，直接列为必测（Q.3.6.1.7.11.5）</a:t>
            </a:r>
          </a:p>
        </p:txBody>
      </p:sp>
      <p:sp>
        <p:nvSpPr>
          <p:cNvPr id="90" name="BtmLine"/>
          <p:cNvSpPr/>
          <p:nvPr/>
        </p:nvSpPr>
        <p:spPr>
          <a:xfrm>
            <a:off x="526774" y="5875616"/>
            <a:ext cx="11064240" cy="10973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91" name="Stat1"/>
          <p:cNvSpPr/>
          <p:nvPr/>
        </p:nvSpPr>
        <p:spPr>
          <a:xfrm>
            <a:off x="526774" y="5967056"/>
            <a:ext cx="2743200" cy="292608"/>
          </a:xfrm>
          <a:prstGeom prst="rect">
            <a:avLst/>
          </a:prstGeom>
          <a:noFill/>
          <a:ln/>
        </p:spPr>
        <p:txBody>
          <a:p>
            <a:pPr marL="0" indent="0" algn="l">
              <a:buNone/>
            </a:pPr>
            <a:r>
              <a:rPr lang="zh-CN" sz="1600" b="1" dirty="0">
                <a:solidFill>
                  <a:srgbClr val="1EEF97"/>
                </a:solidFill>
                <a:latin typeface="Arial" pitchFamily="34" charset="0"/>
                <a:ea typeface="Microsoft YaHei" pitchFamily="34" charset="-122"/>
              </a:rPr>
              <a:t>3</a:t>
            </a:r>
          </a:p>
        </p:txBody>
      </p:sp>
      <p:sp>
        <p:nvSpPr>
          <p:cNvPr id="92" name="Stat1Label"/>
          <p:cNvSpPr/>
          <p:nvPr/>
        </p:nvSpPr>
        <p:spPr>
          <a:xfrm>
            <a:off x="526774" y="6213944"/>
            <a:ext cx="2743200" cy="182880"/>
          </a:xfrm>
          <a:prstGeom prst="rect">
            <a:avLst/>
          </a:prstGeom>
          <a:noFill/>
          <a:ln/>
        </p:spPr>
        <p:txBody>
          <a:p>
            <a:pPr marL="0" indent="0" algn="l">
              <a:buNone/>
            </a:pPr>
            <a:r>
              <a:rPr lang="zh-CN" sz="800" b="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V2X必测场景数</a:t>
            </a:r>
          </a:p>
        </p:txBody>
      </p:sp>
      <p:sp>
        <p:nvSpPr>
          <p:cNvPr id="93" name="Stat2"/>
          <p:cNvSpPr/>
          <p:nvPr/>
        </p:nvSpPr>
        <p:spPr>
          <a:xfrm>
            <a:off x="3292834" y="5967056"/>
            <a:ext cx="2743200" cy="292608"/>
          </a:xfrm>
          <a:prstGeom prst="rect">
            <a:avLst/>
          </a:prstGeom>
          <a:noFill/>
          <a:ln/>
        </p:spPr>
        <p:txBody>
          <a:p>
            <a:pPr marL="0" indent="0" algn="l">
              <a:buNone/>
            </a:pPr>
            <a:r>
              <a:rPr lang="zh-CN" sz="1600" b="1" dirty="0">
                <a:solidFill>
                  <a:srgbClr val="1EEF97"/>
                </a:solidFill>
                <a:latin typeface="Arial" pitchFamily="34" charset="0"/>
                <a:ea typeface="Microsoft YaHei" pitchFamily="34" charset="-122"/>
              </a:rPr>
              <a:t>GVT</a:t>
            </a:r>
          </a:p>
        </p:txBody>
      </p:sp>
      <p:sp>
        <p:nvSpPr>
          <p:cNvPr id="94" name="Stat2Label"/>
          <p:cNvSpPr/>
          <p:nvPr/>
        </p:nvSpPr>
        <p:spPr>
          <a:xfrm>
            <a:off x="3292834" y="6213944"/>
            <a:ext cx="2743200" cy="182880"/>
          </a:xfrm>
          <a:prstGeom prst="rect">
            <a:avLst/>
          </a:prstGeom>
          <a:noFill/>
          <a:ln/>
        </p:spPr>
        <p:txBody>
          <a:p>
            <a:pPr marL="0" indent="0" algn="l">
              <a:buNone/>
            </a:pPr>
            <a:r>
              <a:rPr lang="zh-CN" sz="800" b="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目标物支持C-V2X</a:t>
            </a:r>
          </a:p>
        </p:txBody>
      </p:sp>
      <p:sp>
        <p:nvSpPr>
          <p:cNvPr id="95" name="Stat3"/>
          <p:cNvSpPr/>
          <p:nvPr/>
        </p:nvSpPr>
        <p:spPr>
          <a:xfrm>
            <a:off x="6357863" y="5967056"/>
            <a:ext cx="2743200" cy="292608"/>
          </a:xfrm>
          <a:prstGeom prst="rect">
            <a:avLst/>
          </a:prstGeom>
          <a:noFill/>
          <a:ln/>
        </p:spPr>
        <p:txBody>
          <a:p>
            <a:pPr marL="0" indent="0" algn="l">
              <a:buNone/>
            </a:pPr>
            <a:r>
              <a:rPr lang="zh-CN" sz="1600" b="1" dirty="0">
                <a:solidFill>
                  <a:srgbClr val="1EEF97"/>
                </a:solidFill>
                <a:latin typeface="Arial" pitchFamily="34" charset="0"/>
                <a:ea typeface="Microsoft YaHei" pitchFamily="34" charset="-122"/>
              </a:rPr>
              <a:t>NLOS</a:t>
            </a:r>
          </a:p>
        </p:txBody>
      </p:sp>
      <p:sp>
        <p:nvSpPr>
          <p:cNvPr id="96" name="Stat3Label"/>
          <p:cNvSpPr/>
          <p:nvPr/>
        </p:nvSpPr>
        <p:spPr>
          <a:xfrm>
            <a:off x="6357863" y="6191680"/>
            <a:ext cx="2743200" cy="182880"/>
          </a:xfrm>
          <a:prstGeom prst="rect">
            <a:avLst/>
          </a:prstGeom>
          <a:noFill/>
          <a:ln/>
        </p:spPr>
        <p:txBody>
          <a:p>
            <a:pPr marL="0" indent="0" algn="l">
              <a:buNone/>
            </a:pPr>
            <a:r>
              <a:rPr lang="zh-CN" sz="800" b="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核心解决场景</a:t>
            </a:r>
          </a:p>
        </p:txBody>
      </p:sp>
      <p:sp>
        <p:nvSpPr>
          <p:cNvPr id="97" name="Stat4"/>
          <p:cNvSpPr/>
          <p:nvPr/>
        </p:nvSpPr>
        <p:spPr>
          <a:xfrm>
            <a:off x="9123923" y="5967056"/>
            <a:ext cx="2743200" cy="292608"/>
          </a:xfrm>
          <a:prstGeom prst="rect">
            <a:avLst/>
          </a:prstGeom>
          <a:noFill/>
          <a:ln/>
        </p:spPr>
        <p:txBody>
          <a:p>
            <a:pPr marL="0" indent="0" algn="l">
              <a:buNone/>
            </a:pPr>
            <a:r>
              <a:rPr lang="zh-CN" sz="1600" b="1" dirty="0">
                <a:solidFill>
                  <a:srgbClr val="1EEF97"/>
                </a:solidFill>
                <a:latin typeface="Arial" pitchFamily="34" charset="0"/>
                <a:ea typeface="Microsoft YaHei" pitchFamily="34" charset="-122"/>
              </a:rPr>
              <a:t>附录Q</a:t>
            </a:r>
          </a:p>
        </p:txBody>
      </p:sp>
      <p:sp>
        <p:nvSpPr>
          <p:cNvPr id="98" name="Stat4Label"/>
          <p:cNvSpPr/>
          <p:nvPr/>
        </p:nvSpPr>
        <p:spPr>
          <a:xfrm>
            <a:off x="9123923" y="6191680"/>
            <a:ext cx="2743200" cy="182880"/>
          </a:xfrm>
          <a:prstGeom prst="rect">
            <a:avLst/>
          </a:prstGeom>
          <a:noFill/>
          <a:ln/>
        </p:spPr>
        <p:txBody>
          <a:p>
            <a:pPr marL="0" indent="0" algn="l">
              <a:buNone/>
            </a:pPr>
            <a:r>
              <a:rPr lang="zh-CN" sz="800" b="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V2X仅出现在附录Q</a:t>
            </a:r>
          </a:p>
        </p:txBody>
      </p:sp>
      <p:sp>
        <p:nvSpPr>
          <p:cNvPr id="99" name="Footer"/>
          <p:cNvSpPr/>
          <p:nvPr/>
        </p:nvSpPr>
        <p:spPr>
          <a:xfrm>
            <a:off x="526774" y="6450000"/>
            <a:ext cx="4572000" cy="137160"/>
          </a:xfrm>
          <a:prstGeom prst="rect">
            <a:avLst/>
          </a:prstGeom>
          <a:noFill/>
          <a:ln/>
        </p:spPr>
        <p:txBody>
          <a:p>
            <a:pPr marL="0" indent="0" algn="l">
              <a:buNone/>
            </a:pPr>
            <a:r>
              <a:rPr lang="zh-CN" sz="700" b="0" dirty="0">
                <a:solidFill>
                  <a:srgbClr val="888888"/>
                </a:solidFill>
                <a:latin typeface="Arial" pitchFamily="34" charset="0"/>
                <a:ea typeface="Microsoft YaHei" pitchFamily="34" charset="-122"/>
              </a:rPr>
              <a:t>INTERNAL / CONFIDENTIAL  |  CSD class: 2.5  |  Source: C-NCAP 2027 附录Q (Q.3.6.1.2.4 / Q.3.6.1.7.11.5)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682</Words>
  <Application>Microsoft Office PowerPoint</Application>
  <PresentationFormat>宽屏</PresentationFormat>
  <Paragraphs>78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Arial</vt:lpstr>
      <vt:lpstr>Calibri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丽 雪丽</cp:lastModifiedBy>
  <cp:revision>4</cp:revision>
  <dcterms:created xsi:type="dcterms:W3CDTF">2026-05-18T08:42:29Z</dcterms:created>
  <dcterms:modified xsi:type="dcterms:W3CDTF">2026-05-19T05:44:35Z</dcterms:modified>
</cp:coreProperties>
</file>