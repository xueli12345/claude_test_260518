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0" autoAdjust="0"/>
    <p:restoredTop sz="94610"/>
  </p:normalViewPr>
  <p:slideViewPr>
    <p:cSldViewPr snapToGrid="0" snapToObjects="1">
      <p:cViewPr varScale="1">
        <p:scale>
          <a:sx n="90" d="100"/>
          <a:sy n="90" d="100"/>
        </p:scale>
        <p:origin x="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0914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06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11480"/>
            <a:ext cx="228600" cy="228600"/>
          </a:xfrm>
          <a:prstGeom prst="ellipse">
            <a:avLst/>
          </a:prstGeom>
          <a:solidFill>
            <a:srgbClr val="1EEF97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3840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A R I A 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26774" y="800696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</a:t>
            </a:r>
            <a:endParaRPr lang="en-US" sz="6000" dirty="0"/>
          </a:p>
        </p:txBody>
      </p:sp>
      <p:sp>
        <p:nvSpPr>
          <p:cNvPr id="7" name="Shape 5"/>
          <p:cNvSpPr/>
          <p:nvPr/>
        </p:nvSpPr>
        <p:spPr>
          <a:xfrm>
            <a:off x="526774" y="1532216"/>
            <a:ext cx="1828800" cy="45720"/>
          </a:xfrm>
          <a:prstGeom prst="rect">
            <a:avLst/>
          </a:prstGeom>
          <a:solidFill>
            <a:srgbClr val="1EEF97"/>
          </a:solidFill>
          <a:ln/>
        </p:spPr>
      </p:sp>
      <p:sp>
        <p:nvSpPr>
          <p:cNvPr id="8" name="Text 6"/>
          <p:cNvSpPr/>
          <p:nvPr/>
        </p:nvSpPr>
        <p:spPr>
          <a:xfrm>
            <a:off x="526774" y="176081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Emergency Braking  |  自动紧急制动系统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26774" y="2446616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AEB?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26774" y="2766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 (Autonomous Emergency Braking) is an advanced driver assistance system that automatically applies the brakes when a collision is imminent and the driver fails to respond in time.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26774" y="3726776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6774" y="4046816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42E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SENSE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26774" y="428456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Radar, camera &amp; LiDAR sensors continuously monitor the road ahead for vehicles, pedestrians &amp; obstacles.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26774" y="461374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42E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DECIDE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26774" y="485148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ECU evaluates collision risk based on relative speed, distance &amp; trajectory — triggering alerts then braking.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26774" y="518067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42E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ACT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26774" y="5418416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driver does not react, the system autonomously applies full braking force to avoid or mitigate collision.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31451" y="2700501"/>
            <a:ext cx="45719" cy="2908985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19" name="Text 17"/>
          <p:cNvSpPr/>
          <p:nvPr/>
        </p:nvSpPr>
        <p:spPr>
          <a:xfrm>
            <a:off x="6636028" y="1790077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 IN ACTION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636028" y="2567317"/>
            <a:ext cx="5303520" cy="1600200"/>
          </a:xfrm>
          <a:prstGeom prst="rect">
            <a:avLst/>
          </a:prstGeom>
          <a:solidFill>
            <a:srgbClr val="1A0A30"/>
          </a:solidFill>
          <a:ln/>
        </p:spPr>
      </p:sp>
      <p:sp>
        <p:nvSpPr>
          <p:cNvPr id="21" name="Shape 19"/>
          <p:cNvSpPr/>
          <p:nvPr/>
        </p:nvSpPr>
        <p:spPr>
          <a:xfrm>
            <a:off x="672746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2" name="Shape 20"/>
          <p:cNvSpPr/>
          <p:nvPr/>
        </p:nvSpPr>
        <p:spPr>
          <a:xfrm>
            <a:off x="704750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3" name="Shape 21"/>
          <p:cNvSpPr/>
          <p:nvPr/>
        </p:nvSpPr>
        <p:spPr>
          <a:xfrm>
            <a:off x="736754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4" name="Shape 22"/>
          <p:cNvSpPr/>
          <p:nvPr/>
        </p:nvSpPr>
        <p:spPr>
          <a:xfrm>
            <a:off x="768758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5" name="Shape 23"/>
          <p:cNvSpPr/>
          <p:nvPr/>
        </p:nvSpPr>
        <p:spPr>
          <a:xfrm>
            <a:off x="800762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6" name="Shape 24"/>
          <p:cNvSpPr/>
          <p:nvPr/>
        </p:nvSpPr>
        <p:spPr>
          <a:xfrm>
            <a:off x="832766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7" name="Shape 25"/>
          <p:cNvSpPr/>
          <p:nvPr/>
        </p:nvSpPr>
        <p:spPr>
          <a:xfrm>
            <a:off x="864770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8" name="Shape 26"/>
          <p:cNvSpPr/>
          <p:nvPr/>
        </p:nvSpPr>
        <p:spPr>
          <a:xfrm>
            <a:off x="896774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9" name="Shape 27"/>
          <p:cNvSpPr/>
          <p:nvPr/>
        </p:nvSpPr>
        <p:spPr>
          <a:xfrm>
            <a:off x="928778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0" name="Shape 28"/>
          <p:cNvSpPr/>
          <p:nvPr/>
        </p:nvSpPr>
        <p:spPr>
          <a:xfrm>
            <a:off x="960782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1" name="Shape 29"/>
          <p:cNvSpPr/>
          <p:nvPr/>
        </p:nvSpPr>
        <p:spPr>
          <a:xfrm>
            <a:off x="992786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2" name="Shape 30"/>
          <p:cNvSpPr/>
          <p:nvPr/>
        </p:nvSpPr>
        <p:spPr>
          <a:xfrm>
            <a:off x="1024790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3" name="Shape 31"/>
          <p:cNvSpPr/>
          <p:nvPr/>
        </p:nvSpPr>
        <p:spPr>
          <a:xfrm>
            <a:off x="1056794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4" name="Shape 32"/>
          <p:cNvSpPr/>
          <p:nvPr/>
        </p:nvSpPr>
        <p:spPr>
          <a:xfrm>
            <a:off x="1088798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5" name="Shape 33"/>
          <p:cNvSpPr/>
          <p:nvPr/>
        </p:nvSpPr>
        <p:spPr>
          <a:xfrm>
            <a:off x="1120802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6" name="Shape 34"/>
          <p:cNvSpPr/>
          <p:nvPr/>
        </p:nvSpPr>
        <p:spPr>
          <a:xfrm>
            <a:off x="1152806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7" name="Shape 35"/>
          <p:cNvSpPr/>
          <p:nvPr/>
        </p:nvSpPr>
        <p:spPr>
          <a:xfrm>
            <a:off x="672746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8" name="Shape 36"/>
          <p:cNvSpPr/>
          <p:nvPr/>
        </p:nvSpPr>
        <p:spPr>
          <a:xfrm>
            <a:off x="704750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9" name="Shape 37"/>
          <p:cNvSpPr/>
          <p:nvPr/>
        </p:nvSpPr>
        <p:spPr>
          <a:xfrm>
            <a:off x="736754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758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1" name="Shape 39"/>
          <p:cNvSpPr/>
          <p:nvPr/>
        </p:nvSpPr>
        <p:spPr>
          <a:xfrm>
            <a:off x="800762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2" name="Shape 40"/>
          <p:cNvSpPr/>
          <p:nvPr/>
        </p:nvSpPr>
        <p:spPr>
          <a:xfrm>
            <a:off x="832766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3" name="Shape 41"/>
          <p:cNvSpPr/>
          <p:nvPr/>
        </p:nvSpPr>
        <p:spPr>
          <a:xfrm>
            <a:off x="864770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4" name="Shape 42"/>
          <p:cNvSpPr/>
          <p:nvPr/>
        </p:nvSpPr>
        <p:spPr>
          <a:xfrm>
            <a:off x="896774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5" name="Shape 43"/>
          <p:cNvSpPr/>
          <p:nvPr/>
        </p:nvSpPr>
        <p:spPr>
          <a:xfrm>
            <a:off x="928778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6" name="Shape 44"/>
          <p:cNvSpPr/>
          <p:nvPr/>
        </p:nvSpPr>
        <p:spPr>
          <a:xfrm>
            <a:off x="960782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7" name="Shape 45"/>
          <p:cNvSpPr/>
          <p:nvPr/>
        </p:nvSpPr>
        <p:spPr>
          <a:xfrm>
            <a:off x="992786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8" name="Shape 46"/>
          <p:cNvSpPr/>
          <p:nvPr/>
        </p:nvSpPr>
        <p:spPr>
          <a:xfrm>
            <a:off x="1024790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9" name="Shape 47"/>
          <p:cNvSpPr/>
          <p:nvPr/>
        </p:nvSpPr>
        <p:spPr>
          <a:xfrm>
            <a:off x="1056794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50" name="Shape 48"/>
          <p:cNvSpPr/>
          <p:nvPr/>
        </p:nvSpPr>
        <p:spPr>
          <a:xfrm>
            <a:off x="1088798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51" name="Shape 49"/>
          <p:cNvSpPr/>
          <p:nvPr/>
        </p:nvSpPr>
        <p:spPr>
          <a:xfrm>
            <a:off x="1120802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52" name="Shape 50"/>
          <p:cNvSpPr/>
          <p:nvPr/>
        </p:nvSpPr>
        <p:spPr>
          <a:xfrm>
            <a:off x="1152806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53" name="Shape 51"/>
          <p:cNvSpPr/>
          <p:nvPr/>
        </p:nvSpPr>
        <p:spPr>
          <a:xfrm>
            <a:off x="6864628" y="3271405"/>
            <a:ext cx="960120" cy="411480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54" name="Shape 52"/>
          <p:cNvSpPr/>
          <p:nvPr/>
        </p:nvSpPr>
        <p:spPr>
          <a:xfrm>
            <a:off x="6956068" y="3307981"/>
            <a:ext cx="502920" cy="256032"/>
          </a:xfrm>
          <a:prstGeom prst="rect">
            <a:avLst/>
          </a:prstGeom>
          <a:solidFill>
            <a:srgbClr val="5A4AF0"/>
          </a:solidFill>
          <a:ln/>
        </p:spPr>
      </p:sp>
      <p:sp>
        <p:nvSpPr>
          <p:cNvPr id="55" name="Shape 53"/>
          <p:cNvSpPr/>
          <p:nvPr/>
        </p:nvSpPr>
        <p:spPr>
          <a:xfrm>
            <a:off x="6910348" y="3234829"/>
            <a:ext cx="182880" cy="73152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56" name="Shape 54"/>
          <p:cNvSpPr/>
          <p:nvPr/>
        </p:nvSpPr>
        <p:spPr>
          <a:xfrm>
            <a:off x="7596148" y="3234829"/>
            <a:ext cx="182880" cy="73152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57" name="Shape 55"/>
          <p:cNvSpPr/>
          <p:nvPr/>
        </p:nvSpPr>
        <p:spPr>
          <a:xfrm>
            <a:off x="6910348" y="3628021"/>
            <a:ext cx="182880" cy="73152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58" name="Shape 56"/>
          <p:cNvSpPr/>
          <p:nvPr/>
        </p:nvSpPr>
        <p:spPr>
          <a:xfrm>
            <a:off x="7596148" y="3628021"/>
            <a:ext cx="182880" cy="73152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59" name="Text 57"/>
          <p:cNvSpPr/>
          <p:nvPr/>
        </p:nvSpPr>
        <p:spPr>
          <a:xfrm>
            <a:off x="6910348" y="3088525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42E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6864628" y="2887357"/>
            <a:ext cx="1371600" cy="438912"/>
          </a:xfrm>
          <a:prstGeom prst="triangle">
            <a:avLst/>
          </a:prstGeom>
          <a:solidFill>
            <a:srgbClr val="1EEF97">
              <a:alpha val="1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6956068" y="2750197"/>
            <a:ext cx="1005840" cy="576072"/>
          </a:xfrm>
          <a:prstGeom prst="triangle">
            <a:avLst/>
          </a:prstGeom>
          <a:solidFill>
            <a:srgbClr val="1EEF97">
              <a:alpha val="25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065796" y="2567317"/>
            <a:ext cx="640080" cy="758952"/>
          </a:xfrm>
          <a:prstGeom prst="triangle">
            <a:avLst/>
          </a:prstGeom>
          <a:solidFill>
            <a:srgbClr val="1EEF97">
              <a:alpha val="40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67748" y="3271405"/>
            <a:ext cx="594360" cy="347472"/>
          </a:xfrm>
          <a:prstGeom prst="rect">
            <a:avLst/>
          </a:prstGeom>
          <a:solidFill>
            <a:srgbClr val="EE4C40"/>
          </a:solidFill>
          <a:ln/>
        </p:spPr>
      </p:sp>
      <p:sp>
        <p:nvSpPr>
          <p:cNvPr id="64" name="Shape 62"/>
          <p:cNvSpPr/>
          <p:nvPr/>
        </p:nvSpPr>
        <p:spPr>
          <a:xfrm>
            <a:off x="9013468" y="3298837"/>
            <a:ext cx="320040" cy="201168"/>
          </a:xfrm>
          <a:prstGeom prst="rect">
            <a:avLst/>
          </a:prstGeom>
          <a:solidFill>
            <a:srgbClr val="EE7066"/>
          </a:solidFill>
          <a:ln/>
        </p:spPr>
      </p:sp>
      <p:sp>
        <p:nvSpPr>
          <p:cNvPr id="65" name="Shape 63"/>
          <p:cNvSpPr/>
          <p:nvPr/>
        </p:nvSpPr>
        <p:spPr>
          <a:xfrm>
            <a:off x="8995180" y="3234829"/>
            <a:ext cx="118872" cy="54864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66" name="Shape 64"/>
          <p:cNvSpPr/>
          <p:nvPr/>
        </p:nvSpPr>
        <p:spPr>
          <a:xfrm>
            <a:off x="9424948" y="3234829"/>
            <a:ext cx="118872" cy="54864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67" name="Shape 65"/>
          <p:cNvSpPr/>
          <p:nvPr/>
        </p:nvSpPr>
        <p:spPr>
          <a:xfrm>
            <a:off x="8995180" y="3564013"/>
            <a:ext cx="118872" cy="54864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68" name="Shape 66"/>
          <p:cNvSpPr/>
          <p:nvPr/>
        </p:nvSpPr>
        <p:spPr>
          <a:xfrm>
            <a:off x="9424948" y="3564013"/>
            <a:ext cx="118872" cy="54864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69" name="Text 67"/>
          <p:cNvSpPr/>
          <p:nvPr/>
        </p:nvSpPr>
        <p:spPr>
          <a:xfrm>
            <a:off x="8830588" y="3070237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EE4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843036" y="3472573"/>
            <a:ext cx="1097280" cy="0"/>
          </a:xfrm>
          <a:prstGeom prst="line">
            <a:avLst/>
          </a:prstGeom>
          <a:noFill/>
          <a:ln w="19050">
            <a:solidFill>
              <a:srgbClr val="FEF04A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rot="5400000">
            <a:off x="8876308" y="3445141"/>
            <a:ext cx="91440" cy="54864"/>
          </a:xfrm>
          <a:prstGeom prst="triangle">
            <a:avLst/>
          </a:prstGeom>
          <a:solidFill>
            <a:srgbClr val="FEF04A"/>
          </a:solidFill>
          <a:ln/>
        </p:spPr>
      </p:sp>
      <p:sp>
        <p:nvSpPr>
          <p:cNvPr id="72" name="Text 70"/>
          <p:cNvSpPr/>
          <p:nvPr/>
        </p:nvSpPr>
        <p:spPr>
          <a:xfrm>
            <a:off x="7897900" y="3344557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FEF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&lt; threshold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8144788" y="2997085"/>
            <a:ext cx="201168" cy="182880"/>
          </a:xfrm>
          <a:prstGeom prst="triangle">
            <a:avLst/>
          </a:prstGeom>
          <a:solidFill>
            <a:srgbClr val="FEF04A"/>
          </a:solidFill>
          <a:ln/>
        </p:spPr>
      </p:sp>
      <p:sp>
        <p:nvSpPr>
          <p:cNvPr id="74" name="Text 72"/>
          <p:cNvSpPr/>
          <p:nvPr/>
        </p:nvSpPr>
        <p:spPr>
          <a:xfrm>
            <a:off x="8144788" y="2997085"/>
            <a:ext cx="201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06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 rot="10800000">
            <a:off x="6910348" y="3847477"/>
            <a:ext cx="146304" cy="128016"/>
          </a:xfrm>
          <a:prstGeom prst="triangle">
            <a:avLst/>
          </a:prstGeom>
          <a:solidFill>
            <a:srgbClr val="EE4C40"/>
          </a:solidFill>
          <a:ln/>
        </p:spPr>
      </p:sp>
      <p:sp>
        <p:nvSpPr>
          <p:cNvPr id="76" name="Shape 74"/>
          <p:cNvSpPr/>
          <p:nvPr/>
        </p:nvSpPr>
        <p:spPr>
          <a:xfrm rot="10800000">
            <a:off x="7111516" y="3847477"/>
            <a:ext cx="146304" cy="128016"/>
          </a:xfrm>
          <a:prstGeom prst="triangle">
            <a:avLst/>
          </a:prstGeom>
          <a:solidFill>
            <a:srgbClr val="EE4C40"/>
          </a:solidFill>
          <a:ln/>
        </p:spPr>
      </p:sp>
      <p:sp>
        <p:nvSpPr>
          <p:cNvPr id="77" name="Shape 75"/>
          <p:cNvSpPr/>
          <p:nvPr/>
        </p:nvSpPr>
        <p:spPr>
          <a:xfrm rot="10800000">
            <a:off x="7312684" y="3847477"/>
            <a:ext cx="146304" cy="128016"/>
          </a:xfrm>
          <a:prstGeom prst="triangle">
            <a:avLst/>
          </a:prstGeom>
          <a:solidFill>
            <a:srgbClr val="EE4C40"/>
          </a:solidFill>
          <a:ln/>
        </p:spPr>
      </p:sp>
      <p:sp>
        <p:nvSpPr>
          <p:cNvPr id="78" name="Text 76"/>
          <p:cNvSpPr/>
          <p:nvPr/>
        </p:nvSpPr>
        <p:spPr>
          <a:xfrm>
            <a:off x="6910348" y="3975493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EE4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BRAKE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6773188" y="2722765"/>
            <a:ext cx="64008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600" dirty="0"/>
          </a:p>
        </p:txBody>
      </p:sp>
      <p:sp>
        <p:nvSpPr>
          <p:cNvPr id="80" name="Text 78"/>
          <p:cNvSpPr/>
          <p:nvPr/>
        </p:nvSpPr>
        <p:spPr>
          <a:xfrm>
            <a:off x="6864628" y="3179965"/>
            <a:ext cx="640080" cy="109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600" dirty="0"/>
          </a:p>
        </p:txBody>
      </p:sp>
      <p:sp>
        <p:nvSpPr>
          <p:cNvPr id="81" name="Text 79"/>
          <p:cNvSpPr/>
          <p:nvPr/>
        </p:nvSpPr>
        <p:spPr>
          <a:xfrm>
            <a:off x="8007628" y="4030357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Collision risk detected → Autonomous braking engaged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6636028" y="4350397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BENEFITS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6636028" y="4606429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Reduces rear-end collisions by up to 50% (Euro NCAP)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6636028" y="4880749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Operates at city &amp; highway speeds (5–250 km/h)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6636028" y="5155069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Detects vehicles, pedestrians, cyclists &amp; static obstacles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6636028" y="5429389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Mandatory for all new vehicles in EU since 2024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526774" y="5875616"/>
            <a:ext cx="11064240" cy="10973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88" name="Text 86"/>
          <p:cNvSpPr/>
          <p:nvPr/>
        </p:nvSpPr>
        <p:spPr>
          <a:xfrm>
            <a:off x="526774" y="596705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-50%</a:t>
            </a:r>
            <a:endParaRPr lang="en-US" sz="2000" dirty="0"/>
          </a:p>
        </p:txBody>
      </p:sp>
      <p:sp>
        <p:nvSpPr>
          <p:cNvPr id="89" name="Text 87"/>
          <p:cNvSpPr/>
          <p:nvPr/>
        </p:nvSpPr>
        <p:spPr>
          <a:xfrm>
            <a:off x="526774" y="6213944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Collision Reduction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3292834" y="596705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0.5s</a:t>
            </a:r>
            <a:endParaRPr lang="en-US" sz="2000" dirty="0"/>
          </a:p>
        </p:txBody>
      </p:sp>
      <p:sp>
        <p:nvSpPr>
          <p:cNvPr id="91" name="Text 89"/>
          <p:cNvSpPr/>
          <p:nvPr/>
        </p:nvSpPr>
        <p:spPr>
          <a:xfrm>
            <a:off x="3292834" y="6213944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Response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6357863" y="594479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5-250 km/h</a:t>
            </a:r>
            <a:endParaRPr lang="en-US" sz="2000" dirty="0"/>
          </a:p>
        </p:txBody>
      </p:sp>
      <p:sp>
        <p:nvSpPr>
          <p:cNvPr id="93" name="Text 91"/>
          <p:cNvSpPr/>
          <p:nvPr/>
        </p:nvSpPr>
        <p:spPr>
          <a:xfrm>
            <a:off x="6357863" y="619168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Range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9123923" y="594479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2024+</a:t>
            </a:r>
            <a:endParaRPr lang="en-US" sz="2000" dirty="0"/>
          </a:p>
        </p:txBody>
      </p:sp>
      <p:sp>
        <p:nvSpPr>
          <p:cNvPr id="95" name="Text 93"/>
          <p:cNvSpPr/>
          <p:nvPr/>
        </p:nvSpPr>
        <p:spPr>
          <a:xfrm>
            <a:off x="9123923" y="619168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Mandatory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526774" y="6332816"/>
            <a:ext cx="457200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/ CONFIDENTIAL  |  CSD class: 2.5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06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Line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3" name="LeftBar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4" name="GreenDot"/>
          <p:cNvSpPr/>
          <p:nvPr/>
        </p:nvSpPr>
        <p:spPr>
          <a:xfrm>
            <a:off x="548640" y="411480"/>
            <a:ext cx="228600" cy="228600"/>
          </a:xfrm>
          <a:prstGeom prst="ellipse">
            <a:avLst/>
          </a:prstGeom>
          <a:solidFill>
            <a:srgbClr val="1EEF97"/>
          </a:solidFill>
          <a:ln/>
        </p:spPr>
      </p:sp>
      <p:sp>
        <p:nvSpPr>
          <p:cNvPr id="5" name="CARIAD"/>
          <p:cNvSpPr/>
          <p:nvPr/>
        </p:nvSpPr>
        <p:spPr>
          <a:xfrm>
            <a:off x="868680" y="3840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DCDD2"/>
                </a:solidFill>
                <a:latin typeface="Arial" pitchFamily="34" charset="0"/>
                <a:ea typeface="Arial" pitchFamily="34" charset="-122"/>
              </a:rPr>
              <a:t>C A R I A D</a:t>
            </a:r>
          </a:p>
        </p:txBody>
      </p:sp>
      <p:sp>
        <p:nvSpPr>
          <p:cNvPr id="6" name="MainTitle"/>
          <p:cNvSpPr/>
          <p:nvPr/>
        </p:nvSpPr>
        <p:spPr>
          <a:xfrm>
            <a:off x="526774" y="700000"/>
            <a:ext cx="10972800" cy="7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</a:rPr>
              <a:t>C-NCAP 2027 </a:t>
            </a:r>
            <a:r>
              <a:rPr lang="en-US" sz="36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</a:rPr>
              <a:t>AEB</a:t>
            </a: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</a:rPr>
              <a:t> 测试场景总览</a:t>
            </a:r>
          </a:p>
        </p:txBody>
      </p:sp>
      <p:sp>
        <p:nvSpPr>
          <p:cNvPr id="7" name="Underline"/>
          <p:cNvSpPr/>
          <p:nvPr/>
        </p:nvSpPr>
        <p:spPr>
          <a:xfrm>
            <a:off x="526774" y="1400000"/>
            <a:ext cx="2743200" cy="45720"/>
          </a:xfrm>
          <a:prstGeom prst="rect">
            <a:avLst/>
          </a:prstGeom>
          <a:solidFill>
            <a:srgbClr val="1EEF97"/>
          </a:solidFill>
          <a:ln/>
        </p:spPr>
      </p:sp>
      <p:sp>
        <p:nvSpPr>
          <p:cNvPr id="8" name="Subtitle"/>
          <p:cNvSpPr/>
          <p:nvPr/>
        </p:nvSpPr>
        <p:spPr>
          <a:xfrm>
            <a:off x="526774" y="15000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zh-CN" sz="16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AEB / FCW / AES | 车对弱势道路使用者 + 车对车 | 基础 + 拓展场景</a:t>
            </a:r>
          </a:p>
        </p:txBody>
      </p:sp>
      <p:sp>
        <p:nvSpPr>
          <p:cNvPr id="9" name="VLine"/>
          <p:cNvSpPr/>
          <p:nvPr/>
        </p:nvSpPr>
        <p:spPr>
          <a:xfrm>
            <a:off x="6131451" y="2050000"/>
            <a:ext cx="45719" cy="3600000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10" name="LeftHeader"/>
          <p:cNvSpPr/>
          <p:nvPr/>
        </p:nvSpPr>
        <p:spPr>
          <a:xfrm>
            <a:off x="526774" y="2000000"/>
            <a:ext cx="5100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</a:rPr>
              <a:t>附录P — VRU / 弱势道路使用者保护</a:t>
            </a:r>
          </a:p>
        </p:txBody>
      </p:sp>
      <p:sp>
        <p:nvSpPr>
          <p:cNvPr id="11" name="LeftList"/>
          <p:cNvSpPr/>
          <p:nvPr/>
        </p:nvSpPr>
        <p:spPr>
          <a:xfrm>
            <a:off x="526774" y="2350000"/>
            <a:ext cx="5100000" cy="38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zh-CN" sz="11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车对行人 (6项基础 · 权重70%)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CPLA 纵向冲突 / CPFA 远端横穿 / CPNYC 幼儿近端横穿 / CPTA-LF 左转横穿 / CPTA-RF 右转横穿 / CPYCL 幼儿低速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442EE0"/>
                </a:solidFill>
                <a:latin typeface="Arial" pitchFamily="34" charset="0"/>
                <a:ea typeface="Microsoft YaHei" pitchFamily="34" charset="-122"/>
              </a:rPr>
              <a:t>车对行人·拓展 (6项 · 权重30%)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CPFAr 雨天远端横穿 / CPFC-MO 动态遮挡儿童 / CPNC-AI 行人干扰儿童 / CPFC-BI 二轮车干扰儿童 / CPFAh 高速远端横穿 / CPLAh 高速纵向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车对二轮车 (6项基础 · 权重70%)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CBLAb 电动自行车纵向(夜) / CBOA 电动自行车斜向 / CBNA 自行车近端横穿 / CSFA 踏板摩托远端横穿 / CSTA-LN 左转踏板摩托 / CSTA-RN 右转踏板摩托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442EE0"/>
                </a:solidFill>
                <a:latin typeface="Arial" pitchFamily="34" charset="0"/>
                <a:ea typeface="Microsoft YaHei" pitchFamily="34" charset="-122"/>
              </a:rPr>
              <a:t>车对二轮车·拓展 (10项 · 权重30%)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CBLAt 转弯切入 / CBLAc 变道切入 / CBOFA 斜穿遮挡 / CBNA-AI 行人干扰 / CSFA-BI 二轮车干扰 / CBFA-MO 动态遮挡 / CSTAO-RN 右转遮挡 / C2S RCPf 右转远端 / C2B RCPn 右转近端 / CSFhol 直行对向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车对三轮车 (3项基础)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CTRc 切入追尾 / CTFA 横穿 / CTFT 转弯对撞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442EE0"/>
                </a:solidFill>
                <a:latin typeface="Arial" pitchFamily="34" charset="0"/>
                <a:ea typeface="Microsoft YaHei" pitchFamily="34" charset="-122"/>
              </a:rPr>
              <a:t>功能覆盖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AEB + FCW + AES (自动紧急转向/避让)</a:t>
            </a:r>
          </a:p>
          <a:p>
            <a:pPr marL="0" indent="0" algn="l">
              <a:buNone/>
            </a:pPr>
            <a:endParaRPr lang="zh-CN" sz="600" dirty="0"/>
          </a:p>
        </p:txBody>
      </p:sp>
      <p:sp>
        <p:nvSpPr>
          <p:cNvPr id="20" name="RightHeader"/>
          <p:cNvSpPr/>
          <p:nvPr/>
        </p:nvSpPr>
        <p:spPr>
          <a:xfrm>
            <a:off x="6636028" y="2000000"/>
            <a:ext cx="5100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</a:rPr>
              <a:t>附录Q — C2C / 车对车 ADAS 测试</a:t>
            </a:r>
          </a:p>
        </p:txBody>
      </p:sp>
      <p:sp>
        <p:nvSpPr>
          <p:cNvPr id="21" name="RightList"/>
          <p:cNvSpPr/>
          <p:nvPr/>
        </p:nvSpPr>
        <p:spPr>
          <a:xfrm>
            <a:off x="6636028" y="2350000"/>
            <a:ext cx="5100000" cy="38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zh-CN" sz="11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基础场景 (6项 · 必测)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CCRc 切入追尾 / CCRh 高速追尾 / CCRb 制动追尾 / C2C SCPf 远端横穿 / CCFT 转弯对撞 / CCRbc 弯道制动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442EE0"/>
                </a:solidFill>
                <a:latin typeface="Arial" pitchFamily="34" charset="0"/>
                <a:ea typeface="Microsoft YaHei" pitchFamily="34" charset="-122"/>
              </a:rPr>
              <a:t>拓展场景 (10项 · 抽测验证)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CCRsr 雨天追尾 / CCRsf 雾天追尾 / CCFhos 直行对撞 / C2C SCPn 近端横穿 / SCPmo 动态遮挡横穿 / CCFTf 跟车转弯对撞 / LCPf/LCPn 左转横穿 / RCPf 右转横穿 / SCPso 静态遮挡横穿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442EE0"/>
                </a:solidFill>
                <a:latin typeface="Arial" pitchFamily="34" charset="0"/>
                <a:ea typeface="Microsoft YaHei" pitchFamily="34" charset="-122"/>
              </a:rPr>
              <a:t>测试速度范围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基础: 40–120 km/h | 拓展: 30–120 km/h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442EE0"/>
                </a:solidFill>
                <a:latin typeface="Arial" pitchFamily="34" charset="0"/>
                <a:ea typeface="Microsoft YaHei" pitchFamily="34" charset="-122"/>
              </a:rPr>
              <a:t>功能覆盖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AEB + FCW + AES + LKA + ELK + DMS + BSD + DOW + RCTB + ISLS + AMAP</a:t>
            </a:r>
          </a:p>
          <a:p>
            <a:pPr marL="0" indent="0" algn="l">
              <a:buNone/>
            </a:pPr>
            <a:endParaRPr lang="zh-CN" sz="600" dirty="0"/>
          </a:p>
        </p:txBody>
      </p:sp>
      <p:sp>
        <p:nvSpPr>
          <p:cNvPr id="90" name="BtmLine"/>
          <p:cNvSpPr/>
          <p:nvPr/>
        </p:nvSpPr>
        <p:spPr>
          <a:xfrm>
            <a:off x="526774" y="5875616"/>
            <a:ext cx="11064240" cy="10973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91" name="Stat1"/>
          <p:cNvSpPr/>
          <p:nvPr/>
        </p:nvSpPr>
        <p:spPr>
          <a:xfrm>
            <a:off x="526774" y="596705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</a:rPr>
              <a:t>6+10</a:t>
            </a:r>
          </a:p>
        </p:txBody>
      </p:sp>
      <p:sp>
        <p:nvSpPr>
          <p:cNvPr id="92" name="Stat1Label"/>
          <p:cNvSpPr/>
          <p:nvPr/>
        </p:nvSpPr>
        <p:spPr>
          <a:xfrm>
            <a:off x="526774" y="6213944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</a:rPr>
              <a:t>车对车测试场景 (必测+抽测)</a:t>
            </a:r>
          </a:p>
        </p:txBody>
      </p:sp>
      <p:sp>
        <p:nvSpPr>
          <p:cNvPr id="93" name="Stat2"/>
          <p:cNvSpPr/>
          <p:nvPr/>
        </p:nvSpPr>
        <p:spPr>
          <a:xfrm>
            <a:off x="3292834" y="596705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</a:rPr>
              <a:t>31</a:t>
            </a:r>
          </a:p>
        </p:txBody>
      </p:sp>
      <p:sp>
        <p:nvSpPr>
          <p:cNvPr id="94" name="Stat2Label"/>
          <p:cNvSpPr/>
          <p:nvPr/>
        </p:nvSpPr>
        <p:spPr>
          <a:xfrm>
            <a:off x="3292834" y="6213944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</a:rPr>
              <a:t>VRU 测试场景 (行/二轮/三轮)</a:t>
            </a:r>
          </a:p>
        </p:txBody>
      </p:sp>
      <p:sp>
        <p:nvSpPr>
          <p:cNvPr id="95" name="Stat3"/>
          <p:cNvSpPr/>
          <p:nvPr/>
        </p:nvSpPr>
        <p:spPr>
          <a:xfrm>
            <a:off x="6357863" y="596705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</a:rPr>
              <a:t>0–120 km/h</a:t>
            </a:r>
          </a:p>
        </p:txBody>
      </p:sp>
      <p:sp>
        <p:nvSpPr>
          <p:cNvPr id="96" name="Stat3Label"/>
          <p:cNvSpPr/>
          <p:nvPr/>
        </p:nvSpPr>
        <p:spPr>
          <a:xfrm>
            <a:off x="6357863" y="619168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</a:rPr>
              <a:t>测试速度范围</a:t>
            </a:r>
          </a:p>
        </p:txBody>
      </p:sp>
      <p:sp>
        <p:nvSpPr>
          <p:cNvPr id="97" name="Stat4"/>
          <p:cNvSpPr/>
          <p:nvPr/>
        </p:nvSpPr>
        <p:spPr>
          <a:xfrm>
            <a:off x="9123923" y="596705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</a:rPr>
              <a:t>2027</a:t>
            </a:r>
          </a:p>
        </p:txBody>
      </p:sp>
      <p:sp>
        <p:nvSpPr>
          <p:cNvPr id="98" name="Stat4Label"/>
          <p:cNvSpPr/>
          <p:nvPr/>
        </p:nvSpPr>
        <p:spPr>
          <a:xfrm>
            <a:off x="9123923" y="619168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</a:rPr>
              <a:t>C-NCAP 版本</a:t>
            </a:r>
          </a:p>
        </p:txBody>
      </p:sp>
      <p:sp>
        <p:nvSpPr>
          <p:cNvPr id="99" name="Footer"/>
          <p:cNvSpPr/>
          <p:nvPr/>
        </p:nvSpPr>
        <p:spPr>
          <a:xfrm>
            <a:off x="526774" y="6450000"/>
            <a:ext cx="457200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</a:rPr>
              <a:t>INTERNAL / CONFIDENTIAL  |  CSD class: 2.5  |  Source: C-NCAP 2027 Management Rules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682</Words>
  <Application>Microsoft Office PowerPoint</Application>
  <PresentationFormat>宽屏</PresentationFormat>
  <Paragraphs>78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Arial</vt:lpstr>
      <vt:lpstr>Calibri</vt:lpstr>
      <vt:lpstr>Office Theme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丽 雪丽</cp:lastModifiedBy>
  <cp:revision>4</cp:revision>
  <dcterms:created xsi:type="dcterms:W3CDTF">2026-05-18T08:42:29Z</dcterms:created>
  <dcterms:modified xsi:type="dcterms:W3CDTF">2026-05-19T05:44:35Z</dcterms:modified>
</cp:coreProperties>
</file>